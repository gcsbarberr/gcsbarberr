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2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_rels/slideMaster6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15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10.xml.rels" ContentType="application/vnd.openxmlformats-package.relationships+xml"/>
  <Override PartName="/ppt/slideMasters/slideMaster14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presProps.xml" ContentType="application/vnd.openxmlformats-officedocument.presentationml.presProps+xml"/>
  <Override PartName="/ppt/theme/theme10.xml" ContentType="application/vnd.openxmlformats-officedocument.theme+xml"/>
  <Override PartName="/ppt/theme/theme9.xml" ContentType="application/vnd.openxmlformats-officedocument.theme+xml"/>
  <Override PartName="/ppt/theme/theme8.xml" ContentType="application/vnd.openxmlformats-officedocument.theme+xml"/>
  <Override PartName="/ppt/theme/theme16.xml" ContentType="application/vnd.openxmlformats-officedocument.theme+xml"/>
  <Override PartName="/ppt/theme/theme6.xml" ContentType="application/vnd.openxmlformats-officedocument.theme+xml"/>
  <Override PartName="/ppt/theme/theme15.xml" ContentType="application/vnd.openxmlformats-officedocument.theme+xml"/>
  <Override PartName="/ppt/theme/theme5.xml" ContentType="application/vnd.openxmlformats-officedocument.theme+xml"/>
  <Override PartName="/ppt/theme/theme14.xml" ContentType="application/vnd.openxmlformats-officedocument.theme+xml"/>
  <Override PartName="/ppt/theme/theme4.xml" ContentType="application/vnd.openxmlformats-officedocument.theme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13.xml" ContentType="application/vnd.openxmlformats-officedocument.theme+xml"/>
  <Override PartName="/ppt/theme/theme7.xml" ContentType="application/vnd.openxmlformats-officedocument.them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12.jpeg" ContentType="image/jpeg"/>
  <Override PartName="/ppt/media/image8.png" ContentType="image/png"/>
  <Override PartName="/ppt/media/image9.png" ContentType="image/png"/>
  <Override PartName="/ppt/media/image11.jpeg" ContentType="image/jpeg"/>
  <Override PartName="/ppt/media/image10.jpeg" ContentType="image/jpeg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comments/comment3.xml" ContentType="application/vnd.openxmlformats-officedocument.presentationml.comments+xml"/>
  <Override PartName="/ppt/slideLayouts/slideLayout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2.xml.rels" ContentType="application/vnd.openxmlformats-package.relationship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notesSlides/_rels/notesSlide12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12.xml" ContentType="application/vnd.openxmlformats-officedocument.presentationml.notesSlide+xml"/>
  <Override PartName="/ppt/commentAuthors.xml" ContentType="application/vnd.openxmlformats-officedocument.presentationml.commentAuthor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  <p:sldMasterId id="2147483674" r:id="rId15"/>
    <p:sldMasterId id="2147483676" r:id="rId16"/>
  </p:sldMasterIdLst>
  <p:notesMasterIdLst>
    <p:notesMasterId r:id="rId17"/>
  </p:notesMasterIdLst>
  <p:sldIdLst>
    <p:sldId id="256" r:id="rId18"/>
    <p:sldId id="257" r:id="rId19"/>
    <p:sldId id="258" r:id="rId20"/>
    <p:sldId id="259" r:id="rId21"/>
    <p:sldId id="260" r:id="rId22"/>
    <p:sldId id="261" r:id="rId23"/>
    <p:sldId id="262" r:id="rId24"/>
    <p:sldId id="263" r:id="rId25"/>
    <p:sldId id="264" r:id="rId26"/>
    <p:sldId id="265" r:id="rId27"/>
    <p:sldId id="266" r:id="rId28"/>
    <p:sldId id="267" r:id="rId29"/>
    <p:sldId id="268" r:id="rId30"/>
  </p:sldIdLst>
  <p:sldSz cx="12192000" cy="6858000"/>
  <p:notesSz cx="6858000" cy="9144000"/>
</p:presentation>
</file>

<file path=ppt/commentAuthors.xml><?xml version="1.0" encoding="utf-8"?>
<p:cmAuthorLst xmlns:p="http://schemas.openxmlformats.org/presentationml/2006/main">
  <p:cmAuthor id="0" name="Sánchez Gómez" initials="SG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notesMaster" Target="notesMasters/notesMaster1.xml"/><Relationship Id="rId18" Type="http://schemas.openxmlformats.org/officeDocument/2006/relationships/slide" Target="slides/slide1.xml"/><Relationship Id="rId19" Type="http://schemas.openxmlformats.org/officeDocument/2006/relationships/slide" Target="slides/slide2.xml"/><Relationship Id="rId20" Type="http://schemas.openxmlformats.org/officeDocument/2006/relationships/slide" Target="slides/slide3.xml"/><Relationship Id="rId21" Type="http://schemas.openxmlformats.org/officeDocument/2006/relationships/slide" Target="slides/slide4.xml"/><Relationship Id="rId22" Type="http://schemas.openxmlformats.org/officeDocument/2006/relationships/slide" Target="slides/slide5.xml"/><Relationship Id="rId23" Type="http://schemas.openxmlformats.org/officeDocument/2006/relationships/slide" Target="slides/slide6.xml"/><Relationship Id="rId24" Type="http://schemas.openxmlformats.org/officeDocument/2006/relationships/slide" Target="slides/slide7.xml"/><Relationship Id="rId25" Type="http://schemas.openxmlformats.org/officeDocument/2006/relationships/slide" Target="slides/slide8.xml"/><Relationship Id="rId26" Type="http://schemas.openxmlformats.org/officeDocument/2006/relationships/slide" Target="slides/slide9.xml"/><Relationship Id="rId27" Type="http://schemas.openxmlformats.org/officeDocument/2006/relationships/slide" Target="slides/slide10.xml"/><Relationship Id="rId28" Type="http://schemas.openxmlformats.org/officeDocument/2006/relationships/slide" Target="slides/slide11.xml"/><Relationship Id="rId29" Type="http://schemas.openxmlformats.org/officeDocument/2006/relationships/slide" Target="slides/slide12.xml"/><Relationship Id="rId30" Type="http://schemas.openxmlformats.org/officeDocument/2006/relationships/slide" Target="slides/slide13.xml"/><Relationship Id="rId31" Type="http://schemas.openxmlformats.org/officeDocument/2006/relationships/presProps" Target="presProps.xml"/><Relationship Id="rId32" Type="http://schemas.openxmlformats.org/officeDocument/2006/relationships/commentAuthors" Target="commentAuthors.xml"/>
</Relationships>
</file>

<file path=ppt/comments/comment3.xml><?xml version="1.0" encoding="utf-8"?>
<p:cmLst xmlns:p="http://schemas.openxmlformats.org/presentationml/2006/main">
  <p:cm authorId="0" dt="2026-04-09T17:32:09.265000000" idx="1">
    <p:pos x="6118" y="0"/>
    <p:text>Dejar por el momento</p:text>
  </p:cm>
</p:cmLst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6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s-CO" sz="4400" spc="-1" strike="noStrike">
                <a:solidFill>
                  <a:srgbClr val="000000"/>
                </a:solidFill>
                <a:latin typeface="Arial"/>
              </a:rPr>
              <a:t>Pulse </a:t>
            </a:r>
            <a:r>
              <a:rPr b="0" lang="es-CO" sz="4400" spc="-1" strike="noStrike">
                <a:solidFill>
                  <a:srgbClr val="000000"/>
                </a:solidFill>
                <a:latin typeface="Arial"/>
              </a:rPr>
              <a:t>para </a:t>
            </a:r>
            <a:r>
              <a:rPr b="0" lang="es-CO" sz="4400" spc="-1" strike="noStrike">
                <a:solidFill>
                  <a:srgbClr val="000000"/>
                </a:solidFill>
                <a:latin typeface="Arial"/>
              </a:rPr>
              <a:t>despl</a:t>
            </a:r>
            <a:r>
              <a:rPr b="0" lang="es-CO" sz="4400" spc="-1" strike="noStrike">
                <a:solidFill>
                  <a:srgbClr val="000000"/>
                </a:solidFill>
                <a:latin typeface="Arial"/>
              </a:rPr>
              <a:t>azar </a:t>
            </a:r>
            <a:r>
              <a:rPr b="0" lang="es-CO" sz="4400" spc="-1" strike="noStrike">
                <a:solidFill>
                  <a:srgbClr val="000000"/>
                </a:solidFill>
                <a:latin typeface="Arial"/>
              </a:rPr>
              <a:t>la </a:t>
            </a:r>
            <a:r>
              <a:rPr b="0" lang="es-CO" sz="4400" spc="-1" strike="noStrike">
                <a:solidFill>
                  <a:srgbClr val="000000"/>
                </a:solidFill>
                <a:latin typeface="Arial"/>
              </a:rPr>
              <a:t>diapo</a:t>
            </a:r>
            <a:r>
              <a:rPr b="0" lang="es-CO" sz="4400" spc="-1" strike="noStrike">
                <a:solidFill>
                  <a:srgbClr val="000000"/>
                </a:solidFill>
                <a:latin typeface="Arial"/>
              </a:rPr>
              <a:t>sitiva</a:t>
            </a:r>
            <a:endParaRPr b="0" lang="es-CO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s-CO" sz="2000" spc="-1" strike="noStrike">
                <a:solidFill>
                  <a:srgbClr val="000000"/>
                </a:solidFill>
                <a:latin typeface="Arial"/>
              </a:rPr>
              <a:t>Pulse para </a:t>
            </a:r>
            <a:r>
              <a:rPr b="0" lang="es-CO" sz="2000" spc="-1" strike="noStrike">
                <a:solidFill>
                  <a:srgbClr val="000000"/>
                </a:solidFill>
                <a:latin typeface="Arial"/>
              </a:rPr>
              <a:t>editar el </a:t>
            </a:r>
            <a:r>
              <a:rPr b="0" lang="es-CO" sz="2000" spc="-1" strike="noStrike">
                <a:solidFill>
                  <a:srgbClr val="000000"/>
                </a:solidFill>
                <a:latin typeface="Arial"/>
              </a:rPr>
              <a:t>formato </a:t>
            </a:r>
            <a:r>
              <a:rPr b="0" lang="es-CO" sz="2000" spc="-1" strike="noStrike">
                <a:solidFill>
                  <a:srgbClr val="000000"/>
                </a:solidFill>
                <a:latin typeface="Arial"/>
              </a:rPr>
              <a:t>de las </a:t>
            </a:r>
            <a:r>
              <a:rPr b="0" lang="es-CO" sz="2000" spc="-1" strike="noStrike">
                <a:solidFill>
                  <a:srgbClr val="000000"/>
                </a:solidFill>
                <a:latin typeface="Arial"/>
              </a:rPr>
              <a:t>notas</a:t>
            </a:r>
            <a:endParaRPr b="0" lang="es-CO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s-CO" sz="1400" spc="-1" strike="noStrike">
                <a:solidFill>
                  <a:srgbClr val="000000"/>
                </a:solidFill>
                <a:latin typeface="Times New Roman"/>
              </a:rPr>
              <a:t>&lt;cabecera&gt;</a:t>
            </a:r>
            <a:endParaRPr b="0" lang="es-CO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15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s-CO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s-CO" sz="1400" spc="-1" strike="noStrike">
                <a:solidFill>
                  <a:srgbClr val="000000"/>
                </a:solidFill>
                <a:latin typeface="Times New Roman"/>
              </a:rPr>
              <a:t>&lt;fecha/hora&gt;</a:t>
            </a:r>
            <a:endParaRPr b="0" lang="es-CO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16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s-CO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CO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CO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sldNum" idx="17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s-CO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BA75C433-646A-49F6-AFF9-E1C8D70C2858}" type="slidenum">
              <a:rPr b="0" lang="es-CO" sz="14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es-CO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CO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s-MX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893E4E6-D785-4477-8AB7-E1E168249835}" type="slidenum">
              <a:rPr b="0" lang="es-MX" sz="14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es-CO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CO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s-MX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96DE8C7-7B47-4707-A26F-5CCC1E3B2D14}" type="slidenum">
              <a:rPr b="0" lang="es-MX" sz="14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es-CO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CO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6A46DB7F-F368-4417-B4DF-221ABDB017C3}" type="slidenum">
              <a:t>&lt;#&gt;</a:t>
            </a:fld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D0964F6-B84D-4BE4-B453-88DB58288032}" type="slidenum">
              <a:t>&lt;#&gt;</a:t>
            </a:fld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B664D2E-DD53-4921-89CB-B94300DDC78F}" type="slidenum">
              <a:t>&lt;#&gt;</a:t>
            </a:fld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BB4F8C95-DCC1-4674-8586-60659A30ACB8}" type="slidenum">
              <a:t>&lt;#&gt;</a:t>
            </a:fld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86A10DC2-512D-41B9-A54E-28F8A60C5AEE}" type="slidenum">
              <a:t>&lt;#&gt;</a:t>
            </a:fld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5366287-73E8-47DF-A1E0-A7065182141B}" type="slidenum">
              <a:t>&lt;#&gt;</a:t>
            </a:fld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2_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6767CE27-3AA6-4FFE-B6F2-424CAC1BC4C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s-CO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C0D1BC8F-602E-4786-A8C4-7F47095C4115}" type="slidenum">
              <a:t>&lt;#&gt;</a:t>
            </a:fld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CO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CO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F40B8B56-BDAC-45C4-930E-A51AE7A58502}" type="slidenum">
              <a:t>&lt;#&gt;</a:t>
            </a:fld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E6D33192-ED22-47BE-8549-1A97834FFAF4}" type="slidenum">
              <a:t>&lt;#&gt;</a:t>
            </a:fld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CO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CO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3"/>
          </p:nvPr>
        </p:nvSpPr>
        <p:spPr/>
        <p:txBody>
          <a:bodyPr/>
          <a:p>
            <a:fld id="{D0AEA8B5-1871-42B4-945A-1EFB72CF23C9}" type="slidenum">
              <a:t>&lt;#&gt;</a:t>
            </a:fld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CO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CO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CO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9980172B-6F7C-4F2C-862A-109D7953EBA8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slideLayout" Target="../slideLayouts/slideLayout13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slideLayout" Target="../slideLayouts/slideLayout14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slideLayout" Target="../slideLayouts/slideLayout15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Google Shape;14;p14" descr="Interfaz de usuario gráfica, Texto, Aplicación&#10;&#10;Descripción generada automáticamente"/>
          <p:cNvPicPr/>
          <p:nvPr/>
        </p:nvPicPr>
        <p:blipFill>
          <a:blip r:embed="rId2"/>
          <a:stretch/>
        </p:blipFill>
        <p:spPr>
          <a:xfrm>
            <a:off x="0" y="0"/>
            <a:ext cx="12191400" cy="6857280"/>
          </a:xfrm>
          <a:prstGeom prst="rect">
            <a:avLst/>
          </a:prstGeom>
          <a:ln w="0">
            <a:noFill/>
          </a:ln>
        </p:spPr>
      </p:pic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CO" sz="4400" spc="-1" strike="noStrike">
                <a:solidFill>
                  <a:srgbClr val="000000"/>
                </a:solidFill>
                <a:latin typeface="Arial"/>
              </a:rPr>
              <a:t>Pulse </a:t>
            </a:r>
            <a:r>
              <a:rPr b="0" lang="es-CO" sz="4400" spc="-1" strike="noStrike">
                <a:solidFill>
                  <a:srgbClr val="000000"/>
                </a:solidFill>
                <a:latin typeface="Arial"/>
              </a:rPr>
              <a:t>para </a:t>
            </a:r>
            <a:r>
              <a:rPr b="0" lang="es-CO" sz="4400" spc="-1" strike="noStrike">
                <a:solidFill>
                  <a:srgbClr val="000000"/>
                </a:solidFill>
                <a:latin typeface="Arial"/>
              </a:rPr>
              <a:t>editar </a:t>
            </a:r>
            <a:r>
              <a:rPr b="0" lang="es-CO" sz="4400" spc="-1" strike="noStrike">
                <a:solidFill>
                  <a:srgbClr val="000000"/>
                </a:solidFill>
                <a:latin typeface="Arial"/>
              </a:rPr>
              <a:t>el </a:t>
            </a:r>
            <a:r>
              <a:rPr b="0" lang="es-CO" sz="4400" spc="-1" strike="noStrike">
                <a:solidFill>
                  <a:srgbClr val="000000"/>
                </a:solidFill>
                <a:latin typeface="Arial"/>
              </a:rPr>
              <a:t>forma</a:t>
            </a:r>
            <a:r>
              <a:rPr b="0" lang="es-CO" sz="4400" spc="-1" strike="noStrike">
                <a:solidFill>
                  <a:srgbClr val="000000"/>
                </a:solidFill>
                <a:latin typeface="Arial"/>
              </a:rPr>
              <a:t>to del </a:t>
            </a:r>
            <a:r>
              <a:rPr b="0" lang="es-CO" sz="4400" spc="-1" strike="noStrike">
                <a:solidFill>
                  <a:srgbClr val="000000"/>
                </a:solidFill>
                <a:latin typeface="Arial"/>
              </a:rPr>
              <a:t>texto </a:t>
            </a:r>
            <a:r>
              <a:rPr b="0" lang="es-CO" sz="4400" spc="-1" strike="noStrike">
                <a:solidFill>
                  <a:srgbClr val="000000"/>
                </a:solidFill>
                <a:latin typeface="Arial"/>
              </a:rPr>
              <a:t>de </a:t>
            </a:r>
            <a:r>
              <a:rPr b="0" lang="es-CO" sz="4400" spc="-1" strike="noStrike">
                <a:solidFill>
                  <a:srgbClr val="000000"/>
                </a:solidFill>
                <a:latin typeface="Arial"/>
              </a:rPr>
              <a:t>título</a:t>
            </a:r>
            <a:endParaRPr b="0" lang="es-CO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32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CO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CO" sz="2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CO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24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CO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CO" sz="20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CO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20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CO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20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CO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20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CO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51;p23"/>
          <p:cNvSpPr/>
          <p:nvPr/>
        </p:nvSpPr>
        <p:spPr>
          <a:xfrm>
            <a:off x="0" y="0"/>
            <a:ext cx="12191400" cy="170208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rIns="122040" tIns="122040" bIns="1220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CO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CO" sz="1800" spc="-1" strike="noStrike">
                <a:solidFill>
                  <a:srgbClr val="000000"/>
                </a:solidFill>
                <a:latin typeface="Arial"/>
              </a:rPr>
              <a:t>Pulse para </a:t>
            </a:r>
            <a:r>
              <a:rPr b="0" lang="es-CO" sz="1800" spc="-1" strike="noStrike">
                <a:solidFill>
                  <a:srgbClr val="000000"/>
                </a:solidFill>
                <a:latin typeface="Arial"/>
              </a:rPr>
              <a:t>editar el </a:t>
            </a:r>
            <a:r>
              <a:rPr b="0" lang="es-CO" sz="1800" spc="-1" strike="noStrike">
                <a:solidFill>
                  <a:srgbClr val="000000"/>
                </a:solidFill>
                <a:latin typeface="Arial"/>
              </a:rPr>
              <a:t>formato del </a:t>
            </a:r>
            <a:r>
              <a:rPr b="0" lang="es-CO" sz="1800" spc="-1" strike="noStrike">
                <a:solidFill>
                  <a:srgbClr val="000000"/>
                </a:solidFill>
                <a:latin typeface="Arial"/>
              </a:rPr>
              <a:t>texto de título</a:t>
            </a:r>
            <a:endParaRPr b="0" lang="es-CO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ldNum" idx="1"/>
          </p:nvPr>
        </p:nvSpPr>
        <p:spPr>
          <a:xfrm>
            <a:off x="11296440" y="6217560"/>
            <a:ext cx="731160" cy="524160"/>
          </a:xfrm>
          <a:prstGeom prst="rect">
            <a:avLst/>
          </a:prstGeom>
          <a:noFill/>
          <a:ln w="0">
            <a:noFill/>
          </a:ln>
        </p:spPr>
        <p:txBody>
          <a:bodyPr lIns="122040" rIns="122040" tIns="122040" bIns="1220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s-MX" sz="1300" spc="-1" strike="noStrike">
                <a:solidFill>
                  <a:schemeClr val="dk2"/>
                </a:solidFill>
                <a:latin typeface="Roboto"/>
                <a:ea typeface="Robo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EFB0CA9-C861-4284-B58C-237E43073142}" type="slidenum">
              <a:rPr b="0" lang="es-MX" sz="1300" spc="-1" strike="noStrike">
                <a:solidFill>
                  <a:schemeClr val="dk2"/>
                </a:solidFill>
                <a:latin typeface="Roboto"/>
                <a:ea typeface="Roboto"/>
              </a:rPr>
              <a:t>&lt;número&gt;</a:t>
            </a:fld>
            <a:endParaRPr b="0" lang="es-CO" sz="13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55;p24"/>
          <p:cNvSpPr/>
          <p:nvPr/>
        </p:nvSpPr>
        <p:spPr>
          <a:xfrm>
            <a:off x="0" y="0"/>
            <a:ext cx="5018760" cy="685728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rIns="122040" tIns="122040" bIns="1220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CO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" name="PlaceHolder 1"/>
          <p:cNvSpPr>
            <a:spLocks noGrp="1"/>
          </p:cNvSpPr>
          <p:nvPr>
            <p:ph type="sldNum" idx="2"/>
          </p:nvPr>
        </p:nvSpPr>
        <p:spPr>
          <a:xfrm>
            <a:off x="11296440" y="6217560"/>
            <a:ext cx="731160" cy="524160"/>
          </a:xfrm>
          <a:prstGeom prst="rect">
            <a:avLst/>
          </a:prstGeom>
          <a:noFill/>
          <a:ln w="0">
            <a:noFill/>
          </a:ln>
        </p:spPr>
        <p:txBody>
          <a:bodyPr lIns="122040" rIns="122040" tIns="122040" bIns="1220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s-MX" sz="1300" spc="-1" strike="noStrike">
                <a:solidFill>
                  <a:schemeClr val="dk2"/>
                </a:solidFill>
                <a:latin typeface="Roboto"/>
                <a:ea typeface="Robo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3C7AC5F-E1EB-46AD-88FE-862279DFEFFC}" type="slidenum">
              <a:rPr b="0" lang="es-MX" sz="1300" spc="-1" strike="noStrike">
                <a:solidFill>
                  <a:schemeClr val="dk2"/>
                </a:solidFill>
                <a:latin typeface="Roboto"/>
                <a:ea typeface="Roboto"/>
              </a:rPr>
              <a:t>&lt;número&gt;</a:t>
            </a:fld>
            <a:endParaRPr b="0" lang="es-CO" sz="13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accent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sldNum" idx="3"/>
          </p:nvPr>
        </p:nvSpPr>
        <p:spPr>
          <a:xfrm>
            <a:off x="11296440" y="6217560"/>
            <a:ext cx="731160" cy="524160"/>
          </a:xfrm>
          <a:prstGeom prst="rect">
            <a:avLst/>
          </a:prstGeom>
          <a:noFill/>
          <a:ln w="0">
            <a:noFill/>
          </a:ln>
        </p:spPr>
        <p:txBody>
          <a:bodyPr lIns="122040" rIns="122040" tIns="122040" bIns="1220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s-MX" sz="1300" spc="-1" strike="noStrike">
                <a:solidFill>
                  <a:schemeClr val="accent1"/>
                </a:solidFill>
                <a:latin typeface="Roboto"/>
                <a:ea typeface="Robo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35C52A5-65DD-4CBD-A373-A2B765AD623C}" type="slidenum">
              <a:rPr b="0" lang="es-MX" sz="1300" spc="-1" strike="noStrike">
                <a:solidFill>
                  <a:schemeClr val="accent1"/>
                </a:solidFill>
                <a:latin typeface="Roboto"/>
                <a:ea typeface="Roboto"/>
              </a:rPr>
              <a:t>&lt;número&gt;</a:t>
            </a:fld>
            <a:endParaRPr b="0" lang="es-CO" sz="13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63;p26"/>
          <p:cNvSpPr/>
          <p:nvPr/>
        </p:nvSpPr>
        <p:spPr>
          <a:xfrm>
            <a:off x="0" y="0"/>
            <a:ext cx="6095160" cy="685728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rIns="122040" tIns="122040" bIns="1220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CO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PlaceHolder 1"/>
          <p:cNvSpPr>
            <a:spLocks noGrp="1"/>
          </p:cNvSpPr>
          <p:nvPr>
            <p:ph type="sldNum" idx="4"/>
          </p:nvPr>
        </p:nvSpPr>
        <p:spPr>
          <a:xfrm>
            <a:off x="11296440" y="6217560"/>
            <a:ext cx="731160" cy="524160"/>
          </a:xfrm>
          <a:prstGeom prst="rect">
            <a:avLst/>
          </a:prstGeom>
          <a:noFill/>
          <a:ln w="0">
            <a:noFill/>
          </a:ln>
        </p:spPr>
        <p:txBody>
          <a:bodyPr lIns="122040" rIns="122040" tIns="122040" bIns="1220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s-MX" sz="1300" spc="-1" strike="noStrike">
                <a:solidFill>
                  <a:schemeClr val="dk2"/>
                </a:solidFill>
                <a:latin typeface="Roboto"/>
                <a:ea typeface="Robo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B288DAD-9729-4059-A8BE-95891E76E687}" type="slidenum">
              <a:rPr b="0" lang="es-MX" sz="1300" spc="-1" strike="noStrike">
                <a:solidFill>
                  <a:schemeClr val="dk2"/>
                </a:solidFill>
                <a:latin typeface="Roboto"/>
                <a:ea typeface="Roboto"/>
              </a:rPr>
              <a:t>&lt;número&gt;</a:t>
            </a:fld>
            <a:endParaRPr b="0" lang="es-CO" sz="13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69;p27"/>
          <p:cNvSpPr/>
          <p:nvPr/>
        </p:nvSpPr>
        <p:spPr>
          <a:xfrm>
            <a:off x="0" y="5825160"/>
            <a:ext cx="12191400" cy="103176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rIns="122040" tIns="122040" bIns="1220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CO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PlaceHolder 1"/>
          <p:cNvSpPr>
            <a:spLocks noGrp="1"/>
          </p:cNvSpPr>
          <p:nvPr>
            <p:ph type="sldNum" idx="5"/>
          </p:nvPr>
        </p:nvSpPr>
        <p:spPr>
          <a:xfrm>
            <a:off x="11296440" y="6217560"/>
            <a:ext cx="731160" cy="524160"/>
          </a:xfrm>
          <a:prstGeom prst="rect">
            <a:avLst/>
          </a:prstGeom>
          <a:noFill/>
          <a:ln w="0">
            <a:noFill/>
          </a:ln>
        </p:spPr>
        <p:txBody>
          <a:bodyPr lIns="122040" rIns="122040" tIns="122040" bIns="1220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s-MX" sz="1300" spc="-1" strike="noStrike">
                <a:solidFill>
                  <a:schemeClr val="lt1"/>
                </a:solidFill>
                <a:latin typeface="Roboto"/>
                <a:ea typeface="Robo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F6EF2BE-02CD-4632-AEE9-9E2B13A12059}" type="slidenum">
              <a:rPr b="0" lang="es-MX" sz="1300" spc="-1" strike="noStrike">
                <a:solidFill>
                  <a:schemeClr val="lt1"/>
                </a:solidFill>
                <a:latin typeface="Roboto"/>
                <a:ea typeface="Roboto"/>
              </a:rPr>
              <a:t>&lt;número&gt;</a:t>
            </a:fld>
            <a:endParaRPr b="0" lang="es-CO" sz="13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sldNum" idx="6"/>
          </p:nvPr>
        </p:nvSpPr>
        <p:spPr>
          <a:xfrm>
            <a:off x="11296440" y="6217560"/>
            <a:ext cx="731160" cy="524160"/>
          </a:xfrm>
          <a:prstGeom prst="rect">
            <a:avLst/>
          </a:prstGeom>
          <a:noFill/>
          <a:ln w="0">
            <a:noFill/>
          </a:ln>
        </p:spPr>
        <p:txBody>
          <a:bodyPr lIns="122040" rIns="122040" tIns="122040" bIns="1220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s-MX" sz="1300" spc="-1" strike="noStrike">
                <a:solidFill>
                  <a:schemeClr val="lt1"/>
                </a:solidFill>
                <a:latin typeface="Roboto"/>
                <a:ea typeface="Robo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AFF00E4-5628-4C39-B035-9B950D120816}" type="slidenum">
              <a:rPr b="0" lang="es-MX" sz="1300" spc="-1" strike="noStrike">
                <a:solidFill>
                  <a:schemeClr val="lt1"/>
                </a:solidFill>
                <a:latin typeface="Roboto"/>
                <a:ea typeface="Roboto"/>
              </a:rPr>
              <a:t>&lt;número&gt;</a:t>
            </a:fld>
            <a:endParaRPr b="0" lang="es-CO" sz="13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6;p15" descr=""/>
          <p:cNvPicPr/>
          <p:nvPr/>
        </p:nvPicPr>
        <p:blipFill>
          <a:blip r:embed="rId2"/>
          <a:stretch/>
        </p:blipFill>
        <p:spPr>
          <a:xfrm>
            <a:off x="11027880" y="317520"/>
            <a:ext cx="810720" cy="789840"/>
          </a:xfrm>
          <a:prstGeom prst="rect">
            <a:avLst/>
          </a:prstGeom>
          <a:ln w="0">
            <a:noFill/>
          </a:ln>
        </p:spPr>
      </p:pic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CO" sz="4400" spc="-1" strike="noStrike">
                <a:solidFill>
                  <a:srgbClr val="000000"/>
                </a:solidFill>
                <a:latin typeface="Arial"/>
              </a:rPr>
              <a:t>Pulse </a:t>
            </a:r>
            <a:r>
              <a:rPr b="0" lang="es-CO" sz="4400" spc="-1" strike="noStrike">
                <a:solidFill>
                  <a:srgbClr val="000000"/>
                </a:solidFill>
                <a:latin typeface="Arial"/>
              </a:rPr>
              <a:t>para </a:t>
            </a:r>
            <a:r>
              <a:rPr b="0" lang="es-CO" sz="4400" spc="-1" strike="noStrike">
                <a:solidFill>
                  <a:srgbClr val="000000"/>
                </a:solidFill>
                <a:latin typeface="Arial"/>
              </a:rPr>
              <a:t>editar </a:t>
            </a:r>
            <a:r>
              <a:rPr b="0" lang="es-CO" sz="4400" spc="-1" strike="noStrike">
                <a:solidFill>
                  <a:srgbClr val="000000"/>
                </a:solidFill>
                <a:latin typeface="Arial"/>
              </a:rPr>
              <a:t>el </a:t>
            </a:r>
            <a:r>
              <a:rPr b="0" lang="es-CO" sz="4400" spc="-1" strike="noStrike">
                <a:solidFill>
                  <a:srgbClr val="000000"/>
                </a:solidFill>
                <a:latin typeface="Arial"/>
              </a:rPr>
              <a:t>forma</a:t>
            </a:r>
            <a:r>
              <a:rPr b="0" lang="es-CO" sz="4400" spc="-1" strike="noStrike">
                <a:solidFill>
                  <a:srgbClr val="000000"/>
                </a:solidFill>
                <a:latin typeface="Arial"/>
              </a:rPr>
              <a:t>to del </a:t>
            </a:r>
            <a:r>
              <a:rPr b="0" lang="es-CO" sz="4400" spc="-1" strike="noStrike">
                <a:solidFill>
                  <a:srgbClr val="000000"/>
                </a:solidFill>
                <a:latin typeface="Arial"/>
              </a:rPr>
              <a:t>texto </a:t>
            </a:r>
            <a:r>
              <a:rPr b="0" lang="es-CO" sz="4400" spc="-1" strike="noStrike">
                <a:solidFill>
                  <a:srgbClr val="000000"/>
                </a:solidFill>
                <a:latin typeface="Arial"/>
              </a:rPr>
              <a:t>de </a:t>
            </a:r>
            <a:r>
              <a:rPr b="0" lang="es-CO" sz="4400" spc="-1" strike="noStrike">
                <a:solidFill>
                  <a:srgbClr val="000000"/>
                </a:solidFill>
                <a:latin typeface="Arial"/>
              </a:rPr>
              <a:t>título</a:t>
            </a:r>
            <a:endParaRPr b="0" lang="es-CO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32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CO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CO" sz="2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CO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24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CO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CO" sz="20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CO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20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CO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20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CO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20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CO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3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16" descr="Patrón de fondo&#10;&#10;Descripción generada automáticamente"/>
          <p:cNvPicPr/>
          <p:nvPr/>
        </p:nvPicPr>
        <p:blipFill>
          <a:blip r:embed="rId2"/>
          <a:stretch/>
        </p:blipFill>
        <p:spPr>
          <a:xfrm>
            <a:off x="0" y="0"/>
            <a:ext cx="12191400" cy="6857280"/>
          </a:xfrm>
          <a:prstGeom prst="rect">
            <a:avLst/>
          </a:prstGeom>
          <a:ln w="0">
            <a:noFill/>
          </a:ln>
        </p:spPr>
      </p:pic>
      <p:pic>
        <p:nvPicPr>
          <p:cNvPr id="19" name="Google Shape;19;p16" descr=""/>
          <p:cNvPicPr/>
          <p:nvPr/>
        </p:nvPicPr>
        <p:blipFill>
          <a:blip r:embed="rId3"/>
          <a:stretch/>
        </p:blipFill>
        <p:spPr>
          <a:xfrm>
            <a:off x="11054880" y="303120"/>
            <a:ext cx="855000" cy="833400"/>
          </a:xfrm>
          <a:prstGeom prst="rect">
            <a:avLst/>
          </a:prstGeom>
          <a:ln w="0">
            <a:noFill/>
          </a:ln>
        </p:spPr>
      </p:pic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CO" sz="4400" spc="-1" strike="noStrike">
                <a:solidFill>
                  <a:srgbClr val="000000"/>
                </a:solidFill>
                <a:latin typeface="Arial"/>
              </a:rPr>
              <a:t>Pulse </a:t>
            </a:r>
            <a:r>
              <a:rPr b="0" lang="es-CO" sz="4400" spc="-1" strike="noStrike">
                <a:solidFill>
                  <a:srgbClr val="000000"/>
                </a:solidFill>
                <a:latin typeface="Arial"/>
              </a:rPr>
              <a:t>para </a:t>
            </a:r>
            <a:r>
              <a:rPr b="0" lang="es-CO" sz="4400" spc="-1" strike="noStrike">
                <a:solidFill>
                  <a:srgbClr val="000000"/>
                </a:solidFill>
                <a:latin typeface="Arial"/>
              </a:rPr>
              <a:t>editar </a:t>
            </a:r>
            <a:r>
              <a:rPr b="0" lang="es-CO" sz="4400" spc="-1" strike="noStrike">
                <a:solidFill>
                  <a:srgbClr val="000000"/>
                </a:solidFill>
                <a:latin typeface="Arial"/>
              </a:rPr>
              <a:t>el </a:t>
            </a:r>
            <a:r>
              <a:rPr b="0" lang="es-CO" sz="4400" spc="-1" strike="noStrike">
                <a:solidFill>
                  <a:srgbClr val="000000"/>
                </a:solidFill>
                <a:latin typeface="Arial"/>
              </a:rPr>
              <a:t>forma</a:t>
            </a:r>
            <a:r>
              <a:rPr b="0" lang="es-CO" sz="4400" spc="-1" strike="noStrike">
                <a:solidFill>
                  <a:srgbClr val="000000"/>
                </a:solidFill>
                <a:latin typeface="Arial"/>
              </a:rPr>
              <a:t>to del </a:t>
            </a:r>
            <a:r>
              <a:rPr b="0" lang="es-CO" sz="4400" spc="-1" strike="noStrike">
                <a:solidFill>
                  <a:srgbClr val="000000"/>
                </a:solidFill>
                <a:latin typeface="Arial"/>
              </a:rPr>
              <a:t>texto </a:t>
            </a:r>
            <a:r>
              <a:rPr b="0" lang="es-CO" sz="4400" spc="-1" strike="noStrike">
                <a:solidFill>
                  <a:srgbClr val="000000"/>
                </a:solidFill>
                <a:latin typeface="Arial"/>
              </a:rPr>
              <a:t>de </a:t>
            </a:r>
            <a:r>
              <a:rPr b="0" lang="es-CO" sz="4400" spc="-1" strike="noStrike">
                <a:solidFill>
                  <a:srgbClr val="000000"/>
                </a:solidFill>
                <a:latin typeface="Arial"/>
              </a:rPr>
              <a:t>título</a:t>
            </a:r>
            <a:endParaRPr b="0" lang="es-CO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32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CO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CO" sz="2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CO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24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CO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CO" sz="20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CO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20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CO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20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CO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20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CO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4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ftr" idx="7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CO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CO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CO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sldNum" idx="8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s-MX" sz="1300" spc="-1" strike="noStrike">
                <a:solidFill>
                  <a:schemeClr val="dk2"/>
                </a:solidFill>
                <a:latin typeface="Roboto"/>
                <a:ea typeface="Robo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D3A3358-69E6-4AED-98A4-0C31C7ED2F6D}" type="slidenum">
              <a:rPr b="0" lang="es-MX" sz="1300" spc="-1" strike="noStrike">
                <a:solidFill>
                  <a:schemeClr val="dk2"/>
                </a:solidFill>
                <a:latin typeface="Roboto"/>
                <a:ea typeface="Roboto"/>
              </a:rPr>
              <a:t>&lt;número&gt;</a:t>
            </a:fld>
            <a:endParaRPr b="0" lang="es-CO" sz="13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9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CO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CO" sz="1400" spc="-1" strike="noStrike">
                <a:solidFill>
                  <a:srgbClr val="000000"/>
                </a:solidFill>
                <a:latin typeface="Times New Roman"/>
              </a:rPr>
              <a:t>&lt;fecha/hora&gt;</a:t>
            </a:r>
            <a:endParaRPr b="0" lang="es-CO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CO" sz="4400" spc="-1" strike="noStrike">
                <a:solidFill>
                  <a:srgbClr val="000000"/>
                </a:solidFill>
                <a:latin typeface="Arial"/>
              </a:rPr>
              <a:t>Pulse </a:t>
            </a:r>
            <a:r>
              <a:rPr b="0" lang="es-CO" sz="4400" spc="-1" strike="noStrike">
                <a:solidFill>
                  <a:srgbClr val="000000"/>
                </a:solidFill>
                <a:latin typeface="Arial"/>
              </a:rPr>
              <a:t>para </a:t>
            </a:r>
            <a:r>
              <a:rPr b="0" lang="es-CO" sz="4400" spc="-1" strike="noStrike">
                <a:solidFill>
                  <a:srgbClr val="000000"/>
                </a:solidFill>
                <a:latin typeface="Arial"/>
              </a:rPr>
              <a:t>editar </a:t>
            </a:r>
            <a:r>
              <a:rPr b="0" lang="es-CO" sz="4400" spc="-1" strike="noStrike">
                <a:solidFill>
                  <a:srgbClr val="000000"/>
                </a:solidFill>
                <a:latin typeface="Arial"/>
              </a:rPr>
              <a:t>el </a:t>
            </a:r>
            <a:r>
              <a:rPr b="0" lang="es-CO" sz="4400" spc="-1" strike="noStrike">
                <a:solidFill>
                  <a:srgbClr val="000000"/>
                </a:solidFill>
                <a:latin typeface="Arial"/>
              </a:rPr>
              <a:t>forma</a:t>
            </a:r>
            <a:r>
              <a:rPr b="0" lang="es-CO" sz="4400" spc="-1" strike="noStrike">
                <a:solidFill>
                  <a:srgbClr val="000000"/>
                </a:solidFill>
                <a:latin typeface="Arial"/>
              </a:rPr>
              <a:t>to del </a:t>
            </a:r>
            <a:r>
              <a:rPr b="0" lang="es-CO" sz="4400" spc="-1" strike="noStrike">
                <a:solidFill>
                  <a:srgbClr val="000000"/>
                </a:solidFill>
                <a:latin typeface="Arial"/>
              </a:rPr>
              <a:t>texto </a:t>
            </a:r>
            <a:r>
              <a:rPr b="0" lang="es-CO" sz="4400" spc="-1" strike="noStrike">
                <a:solidFill>
                  <a:srgbClr val="000000"/>
                </a:solidFill>
                <a:latin typeface="Arial"/>
              </a:rPr>
              <a:t>de </a:t>
            </a:r>
            <a:r>
              <a:rPr b="0" lang="es-CO" sz="4400" spc="-1" strike="noStrike">
                <a:solidFill>
                  <a:srgbClr val="000000"/>
                </a:solidFill>
                <a:latin typeface="Arial"/>
              </a:rPr>
              <a:t>título</a:t>
            </a:r>
            <a:endParaRPr b="0" lang="es-CO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32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CO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CO" sz="2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CO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24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CO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CO" sz="20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CO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20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CO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20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CO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20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CO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3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sldNum" idx="10"/>
          </p:nvPr>
        </p:nvSpPr>
        <p:spPr>
          <a:xfrm>
            <a:off x="11296440" y="6217560"/>
            <a:ext cx="731160" cy="524160"/>
          </a:xfrm>
          <a:prstGeom prst="rect">
            <a:avLst/>
          </a:prstGeom>
          <a:noFill/>
          <a:ln w="0">
            <a:noFill/>
          </a:ln>
        </p:spPr>
        <p:txBody>
          <a:bodyPr lIns="122040" rIns="122040" tIns="122040" bIns="1220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s-MX" sz="1300" spc="-1" strike="noStrike">
                <a:solidFill>
                  <a:schemeClr val="dk2"/>
                </a:solidFill>
                <a:latin typeface="Roboto"/>
                <a:ea typeface="Robo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280A115-8721-4E59-81A6-8A9F22355ACF}" type="slidenum">
              <a:rPr b="0" lang="es-MX" sz="1300" spc="-1" strike="noStrike">
                <a:solidFill>
                  <a:schemeClr val="dk2"/>
                </a:solidFill>
                <a:latin typeface="Roboto"/>
                <a:ea typeface="Roboto"/>
              </a:rPr>
              <a:t>&lt;número&gt;</a:t>
            </a:fld>
            <a:endParaRPr b="0" lang="es-CO" sz="13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CO" sz="4400" spc="-1" strike="noStrike">
                <a:solidFill>
                  <a:srgbClr val="000000"/>
                </a:solidFill>
                <a:latin typeface="Arial"/>
              </a:rPr>
              <a:t>Pulse </a:t>
            </a:r>
            <a:r>
              <a:rPr b="0" lang="es-CO" sz="4400" spc="-1" strike="noStrike">
                <a:solidFill>
                  <a:srgbClr val="000000"/>
                </a:solidFill>
                <a:latin typeface="Arial"/>
              </a:rPr>
              <a:t>para </a:t>
            </a:r>
            <a:r>
              <a:rPr b="0" lang="es-CO" sz="4400" spc="-1" strike="noStrike">
                <a:solidFill>
                  <a:srgbClr val="000000"/>
                </a:solidFill>
                <a:latin typeface="Arial"/>
              </a:rPr>
              <a:t>editar </a:t>
            </a:r>
            <a:r>
              <a:rPr b="0" lang="es-CO" sz="4400" spc="-1" strike="noStrike">
                <a:solidFill>
                  <a:srgbClr val="000000"/>
                </a:solidFill>
                <a:latin typeface="Arial"/>
              </a:rPr>
              <a:t>el </a:t>
            </a:r>
            <a:r>
              <a:rPr b="0" lang="es-CO" sz="4400" spc="-1" strike="noStrike">
                <a:solidFill>
                  <a:srgbClr val="000000"/>
                </a:solidFill>
                <a:latin typeface="Arial"/>
              </a:rPr>
              <a:t>forma</a:t>
            </a:r>
            <a:r>
              <a:rPr b="0" lang="es-CO" sz="4400" spc="-1" strike="noStrike">
                <a:solidFill>
                  <a:srgbClr val="000000"/>
                </a:solidFill>
                <a:latin typeface="Arial"/>
              </a:rPr>
              <a:t>to del </a:t>
            </a:r>
            <a:r>
              <a:rPr b="0" lang="es-CO" sz="4400" spc="-1" strike="noStrike">
                <a:solidFill>
                  <a:srgbClr val="000000"/>
                </a:solidFill>
                <a:latin typeface="Arial"/>
              </a:rPr>
              <a:t>texto </a:t>
            </a:r>
            <a:r>
              <a:rPr b="0" lang="es-CO" sz="4400" spc="-1" strike="noStrike">
                <a:solidFill>
                  <a:srgbClr val="000000"/>
                </a:solidFill>
                <a:latin typeface="Arial"/>
              </a:rPr>
              <a:t>de </a:t>
            </a:r>
            <a:r>
              <a:rPr b="0" lang="es-CO" sz="4400" spc="-1" strike="noStrike">
                <a:solidFill>
                  <a:srgbClr val="000000"/>
                </a:solidFill>
                <a:latin typeface="Arial"/>
              </a:rPr>
              <a:t>título</a:t>
            </a:r>
            <a:endParaRPr b="0" lang="es-CO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32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CO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CO" sz="2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CO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24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CO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CO" sz="20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CO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20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CO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20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CO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20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CO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28;p19"/>
          <p:cNvSpPr/>
          <p:nvPr/>
        </p:nvSpPr>
        <p:spPr>
          <a:xfrm>
            <a:off x="0" y="0"/>
            <a:ext cx="12191400" cy="5863320"/>
          </a:xfrm>
          <a:custGeom>
            <a:avLst/>
            <a:gdLst>
              <a:gd name="textAreaLeft" fmla="*/ 0 w 12191400"/>
              <a:gd name="textAreaRight" fmla="*/ 12192120 w 12191400"/>
              <a:gd name="textAreaTop" fmla="*/ 0 h 5863320"/>
              <a:gd name="textAreaBottom" fmla="*/ 5864040 h 5863320"/>
            </a:gdLst>
            <a:ahLst/>
            <a:rect l="textAreaLeft" t="textAreaTop" r="textAreaRight" b="textAreaBottom"/>
            <a:pathLst>
              <a:path w="365770" h="175924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CO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CO" sz="1800" spc="-1" strike="noStrike">
                <a:solidFill>
                  <a:srgbClr val="ffffff"/>
                </a:solidFill>
                <a:latin typeface="Arial"/>
              </a:rPr>
              <a:t>Pulse para </a:t>
            </a:r>
            <a:r>
              <a:rPr b="0" lang="es-CO" sz="1800" spc="-1" strike="noStrike">
                <a:solidFill>
                  <a:srgbClr val="ffffff"/>
                </a:solidFill>
                <a:latin typeface="Arial"/>
              </a:rPr>
              <a:t>editar el </a:t>
            </a:r>
            <a:r>
              <a:rPr b="0" lang="es-CO" sz="1800" spc="-1" strike="noStrike">
                <a:solidFill>
                  <a:srgbClr val="ffffff"/>
                </a:solidFill>
                <a:latin typeface="Arial"/>
              </a:rPr>
              <a:t>formato del </a:t>
            </a:r>
            <a:r>
              <a:rPr b="0" lang="es-CO" sz="1800" spc="-1" strike="noStrike">
                <a:solidFill>
                  <a:srgbClr val="ffffff"/>
                </a:solidFill>
                <a:latin typeface="Arial"/>
              </a:rPr>
              <a:t>texto de título</a:t>
            </a:r>
            <a:endParaRPr b="0" lang="es-CO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sldNum" idx="11"/>
          </p:nvPr>
        </p:nvSpPr>
        <p:spPr>
          <a:xfrm>
            <a:off x="11296440" y="6217560"/>
            <a:ext cx="731160" cy="524160"/>
          </a:xfrm>
          <a:prstGeom prst="rect">
            <a:avLst/>
          </a:prstGeom>
          <a:noFill/>
          <a:ln w="0">
            <a:noFill/>
          </a:ln>
        </p:spPr>
        <p:txBody>
          <a:bodyPr lIns="122040" rIns="122040" tIns="122040" bIns="1220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s-MX" sz="1300" spc="-1" strike="noStrike">
                <a:solidFill>
                  <a:schemeClr val="lt1"/>
                </a:solidFill>
                <a:latin typeface="Roboto"/>
                <a:ea typeface="Robo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D333A2A-4CA7-4D6C-A351-096401D9070F}" type="slidenum">
              <a:rPr b="0" lang="es-MX" sz="1300" spc="-1" strike="noStrike">
                <a:solidFill>
                  <a:schemeClr val="lt1"/>
                </a:solidFill>
                <a:latin typeface="Roboto"/>
                <a:ea typeface="Roboto"/>
              </a:rPr>
              <a:t>&lt;número&gt;</a:t>
            </a:fld>
            <a:endParaRPr b="0" lang="es-CO" sz="13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2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accent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3;p20"/>
          <p:cNvSpPr/>
          <p:nvPr/>
        </p:nvSpPr>
        <p:spPr>
          <a:xfrm>
            <a:off x="0" y="64080"/>
            <a:ext cx="12191400" cy="5863320"/>
          </a:xfrm>
          <a:custGeom>
            <a:avLst/>
            <a:gdLst>
              <a:gd name="textAreaLeft" fmla="*/ 0 w 12191400"/>
              <a:gd name="textAreaRight" fmla="*/ 12192120 w 12191400"/>
              <a:gd name="textAreaTop" fmla="*/ 0 h 5863320"/>
              <a:gd name="textAreaBottom" fmla="*/ 5864040 h 5863320"/>
            </a:gdLst>
            <a:ahLst/>
            <a:rect l="textAreaLeft" t="textAreaTop" r="textAreaRight" b="textAreaBottom"/>
            <a:pathLst>
              <a:path w="365770" h="175924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CO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Google Shape;34;p20"/>
          <p:cNvSpPr/>
          <p:nvPr/>
        </p:nvSpPr>
        <p:spPr>
          <a:xfrm>
            <a:off x="0" y="0"/>
            <a:ext cx="12191400" cy="5863320"/>
          </a:xfrm>
          <a:custGeom>
            <a:avLst/>
            <a:gdLst>
              <a:gd name="textAreaLeft" fmla="*/ 0 w 12191400"/>
              <a:gd name="textAreaRight" fmla="*/ 12192120 w 12191400"/>
              <a:gd name="textAreaTop" fmla="*/ 0 h 5863320"/>
              <a:gd name="textAreaBottom" fmla="*/ 5864040 h 5863320"/>
            </a:gdLst>
            <a:ahLst/>
            <a:rect l="textAreaLeft" t="textAreaTop" r="textAreaRight" b="textAreaBottom"/>
            <a:pathLst>
              <a:path w="365770" h="175924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CO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1"/>
          <p:cNvSpPr>
            <a:spLocks noGrp="1"/>
          </p:cNvSpPr>
          <p:nvPr>
            <p:ph type="sldNum" idx="12"/>
          </p:nvPr>
        </p:nvSpPr>
        <p:spPr>
          <a:xfrm>
            <a:off x="11296440" y="6217560"/>
            <a:ext cx="731160" cy="524160"/>
          </a:xfrm>
          <a:prstGeom prst="rect">
            <a:avLst/>
          </a:prstGeom>
          <a:noFill/>
          <a:ln w="0">
            <a:noFill/>
          </a:ln>
        </p:spPr>
        <p:txBody>
          <a:bodyPr lIns="122040" rIns="122040" tIns="122040" bIns="1220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s-MX" sz="1300" spc="-1" strike="noStrike">
                <a:solidFill>
                  <a:schemeClr val="accent1"/>
                </a:solidFill>
                <a:latin typeface="Roboto"/>
                <a:ea typeface="Robo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8066806-4256-4FF9-BF7E-5BFEF2ECDE6E}" type="slidenum">
              <a:rPr b="0" lang="es-MX" sz="1300" spc="-1" strike="noStrike">
                <a:solidFill>
                  <a:schemeClr val="accent1"/>
                </a:solidFill>
                <a:latin typeface="Roboto"/>
                <a:ea typeface="Roboto"/>
              </a:rPr>
              <a:t>&lt;número&gt;</a:t>
            </a:fld>
            <a:endParaRPr b="0" lang="es-CO" sz="13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3" r:id="rId2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1"/>
          <p:cNvSpPr/>
          <p:nvPr/>
        </p:nvSpPr>
        <p:spPr>
          <a:xfrm>
            <a:off x="0" y="0"/>
            <a:ext cx="5751360" cy="685728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rIns="122040" tIns="122040" bIns="1220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CO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" name="Google Shape;39;p21"/>
          <p:cNvSpPr/>
          <p:nvPr/>
        </p:nvSpPr>
        <p:spPr>
          <a:xfrm>
            <a:off x="0" y="58680"/>
            <a:ext cx="5750640" cy="5865120"/>
          </a:xfrm>
          <a:custGeom>
            <a:avLst/>
            <a:gdLst>
              <a:gd name="textAreaLeft" fmla="*/ 0 w 5750640"/>
              <a:gd name="textAreaRight" fmla="*/ 5751360 w 5750640"/>
              <a:gd name="textAreaTop" fmla="*/ 0 h 5865120"/>
              <a:gd name="textAreaBottom" fmla="*/ 5865840 h 5865120"/>
            </a:gdLst>
            <a:ahLst/>
            <a:rect l="textAreaLeft" t="textAreaTop" r="textAreaRight" b="textAreaBottom"/>
            <a:pathLst>
              <a:path w="172545" h="175975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CO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Google Shape;40;p21"/>
          <p:cNvSpPr/>
          <p:nvPr/>
        </p:nvSpPr>
        <p:spPr>
          <a:xfrm>
            <a:off x="0" y="0"/>
            <a:ext cx="5754960" cy="5860080"/>
          </a:xfrm>
          <a:custGeom>
            <a:avLst/>
            <a:gdLst>
              <a:gd name="textAreaLeft" fmla="*/ 0 w 5754960"/>
              <a:gd name="textAreaRight" fmla="*/ 5755680 w 5754960"/>
              <a:gd name="textAreaTop" fmla="*/ 0 h 5860080"/>
              <a:gd name="textAreaBottom" fmla="*/ 5860800 h 5860080"/>
            </a:gdLst>
            <a:ahLst/>
            <a:rect l="textAreaLeft" t="textAreaTop" r="textAreaRight" b="textAreaBottom"/>
            <a:pathLst>
              <a:path w="172676" h="175824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CO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CO" sz="1800" spc="-1" strike="noStrike">
                <a:solidFill>
                  <a:srgbClr val="000000"/>
                </a:solidFill>
                <a:latin typeface="Arial"/>
              </a:rPr>
              <a:t>Pulse para </a:t>
            </a:r>
            <a:r>
              <a:rPr b="0" lang="es-CO" sz="1800" spc="-1" strike="noStrike">
                <a:solidFill>
                  <a:srgbClr val="000000"/>
                </a:solidFill>
                <a:latin typeface="Arial"/>
              </a:rPr>
              <a:t>editar el </a:t>
            </a:r>
            <a:r>
              <a:rPr b="0" lang="es-CO" sz="1800" spc="-1" strike="noStrike">
                <a:solidFill>
                  <a:srgbClr val="000000"/>
                </a:solidFill>
                <a:latin typeface="Arial"/>
              </a:rPr>
              <a:t>formato del </a:t>
            </a:r>
            <a:r>
              <a:rPr b="0" lang="es-CO" sz="1800" spc="-1" strike="noStrike">
                <a:solidFill>
                  <a:srgbClr val="000000"/>
                </a:solidFill>
                <a:latin typeface="Arial"/>
              </a:rPr>
              <a:t>texto de título</a:t>
            </a:r>
            <a:endParaRPr b="0" lang="es-CO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CO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CO" sz="1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CO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CO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CO" sz="18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CO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CO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CO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CO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sldNum" idx="13"/>
          </p:nvPr>
        </p:nvSpPr>
        <p:spPr>
          <a:xfrm>
            <a:off x="11296440" y="6217560"/>
            <a:ext cx="731160" cy="524160"/>
          </a:xfrm>
          <a:prstGeom prst="rect">
            <a:avLst/>
          </a:prstGeom>
          <a:noFill/>
          <a:ln w="0">
            <a:noFill/>
          </a:ln>
        </p:spPr>
        <p:txBody>
          <a:bodyPr lIns="122040" rIns="122040" tIns="122040" bIns="1220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s-MX" sz="1300" spc="-1" strike="noStrike">
                <a:solidFill>
                  <a:schemeClr val="dk2"/>
                </a:solidFill>
                <a:latin typeface="Roboto"/>
                <a:ea typeface="Robo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EE5B464-A7D6-4AE6-A0B8-EEF70CC5C9DB}" type="slidenum">
              <a:rPr b="0" lang="es-MX" sz="1300" spc="-1" strike="noStrike">
                <a:solidFill>
                  <a:schemeClr val="dk2"/>
                </a:solidFill>
                <a:latin typeface="Roboto"/>
                <a:ea typeface="Roboto"/>
              </a:rPr>
              <a:t>&lt;número&gt;</a:t>
            </a:fld>
            <a:endParaRPr b="0" lang="es-CO" sz="13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5;p22"/>
          <p:cNvSpPr/>
          <p:nvPr/>
        </p:nvSpPr>
        <p:spPr>
          <a:xfrm>
            <a:off x="0" y="0"/>
            <a:ext cx="12191400" cy="170208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rIns="122040" tIns="122040" bIns="1220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CO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CO" sz="1800" spc="-1" strike="noStrike">
                <a:solidFill>
                  <a:srgbClr val="000000"/>
                </a:solidFill>
                <a:latin typeface="Arial"/>
              </a:rPr>
              <a:t>Pulse para </a:t>
            </a:r>
            <a:r>
              <a:rPr b="0" lang="es-CO" sz="1800" spc="-1" strike="noStrike">
                <a:solidFill>
                  <a:srgbClr val="000000"/>
                </a:solidFill>
                <a:latin typeface="Arial"/>
              </a:rPr>
              <a:t>editar el </a:t>
            </a:r>
            <a:r>
              <a:rPr b="0" lang="es-CO" sz="1800" spc="-1" strike="noStrike">
                <a:solidFill>
                  <a:srgbClr val="000000"/>
                </a:solidFill>
                <a:latin typeface="Arial"/>
              </a:rPr>
              <a:t>formato del </a:t>
            </a:r>
            <a:r>
              <a:rPr b="0" lang="es-CO" sz="1800" spc="-1" strike="noStrike">
                <a:solidFill>
                  <a:srgbClr val="000000"/>
                </a:solidFill>
                <a:latin typeface="Arial"/>
              </a:rPr>
              <a:t>texto de título</a:t>
            </a:r>
            <a:endParaRPr b="0" lang="es-CO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CO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CO" sz="1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CO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CO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CO" sz="18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CO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CO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CO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CO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CO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CO" sz="1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CO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CO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CO" sz="18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CO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CO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CO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CO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14"/>
          </p:nvPr>
        </p:nvSpPr>
        <p:spPr>
          <a:xfrm>
            <a:off x="11296440" y="6217560"/>
            <a:ext cx="731160" cy="524160"/>
          </a:xfrm>
          <a:prstGeom prst="rect">
            <a:avLst/>
          </a:prstGeom>
          <a:noFill/>
          <a:ln w="0">
            <a:noFill/>
          </a:ln>
        </p:spPr>
        <p:txBody>
          <a:bodyPr lIns="122040" rIns="122040" tIns="122040" bIns="1220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s-MX" sz="1300" spc="-1" strike="noStrike">
                <a:solidFill>
                  <a:schemeClr val="dk2"/>
                </a:solidFill>
                <a:latin typeface="Roboto"/>
                <a:ea typeface="Robo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C9EC7A7-DA56-41A6-8B9B-B21025E623B8}" type="slidenum">
              <a:rPr b="0" lang="es-MX" sz="1300" spc="-1" strike="noStrike">
                <a:solidFill>
                  <a:schemeClr val="dk2"/>
                </a:solidFill>
                <a:latin typeface="Roboto"/>
                <a:ea typeface="Roboto"/>
              </a:rPr>
              <a:t>&lt;número&gt;</a:t>
            </a:fld>
            <a:endParaRPr b="0" lang="es-CO" sz="13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7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8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slideLayout" Target="../slideLayouts/slideLayout8.xml"/><Relationship Id="rId5" Type="http://schemas.openxmlformats.org/officeDocument/2006/relationships/comments" Target="../comments/commen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jpeg"/><Relationship Id="rId3" Type="http://schemas.openxmlformats.org/officeDocument/2006/relationships/image" Target="../media/image7.png"/><Relationship Id="rId4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image" Target="../media/image11.jpeg"/><Relationship Id="rId4" Type="http://schemas.openxmlformats.org/officeDocument/2006/relationships/slideLayout" Target="../slideLayouts/slideLayout10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10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10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image" Target="../media/image11.jpeg"/><Relationship Id="rId4" Type="http://schemas.openxmlformats.org/officeDocument/2006/relationships/slideLayout" Target="../slideLayouts/slideLayout10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image" Target="../media/image12.jpeg"/><Relationship Id="rId4" Type="http://schemas.openxmlformats.org/officeDocument/2006/relationships/slideLayout" Target="../slideLayouts/slideLayout10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81;p1"/>
          <p:cNvSpPr/>
          <p:nvPr/>
        </p:nvSpPr>
        <p:spPr>
          <a:xfrm>
            <a:off x="5220000" y="1071720"/>
            <a:ext cx="2519640" cy="144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s-MX" sz="8900" spc="-1" strike="noStrike">
                <a:solidFill>
                  <a:srgbClr val="3f3f3f"/>
                </a:solidFill>
                <a:latin typeface="Work Sans"/>
                <a:ea typeface="Work Sans"/>
              </a:rPr>
              <a:t>GCS</a:t>
            </a:r>
            <a:endParaRPr b="0" lang="es-CO" sz="89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1" name="Google Shape;82;p1" descr=""/>
          <p:cNvPicPr/>
          <p:nvPr/>
        </p:nvPicPr>
        <p:blipFill>
          <a:blip r:embed="rId1"/>
          <a:srcRect l="3131" t="1450" r="3131" b="1450"/>
          <a:stretch/>
        </p:blipFill>
        <p:spPr>
          <a:xfrm>
            <a:off x="4878720" y="4511160"/>
            <a:ext cx="1781280" cy="1428840"/>
          </a:xfrm>
          <a:prstGeom prst="rect">
            <a:avLst/>
          </a:prstGeom>
          <a:ln w="0">
            <a:noFill/>
          </a:ln>
        </p:spPr>
      </p:pic>
      <p:pic>
        <p:nvPicPr>
          <p:cNvPr id="62" name="Google Shape;83;p1" descr=""/>
          <p:cNvPicPr/>
          <p:nvPr/>
        </p:nvPicPr>
        <p:blipFill>
          <a:blip r:embed="rId2"/>
          <a:srcRect l="2706" t="0" r="2206" b="0"/>
          <a:stretch/>
        </p:blipFill>
        <p:spPr>
          <a:xfrm>
            <a:off x="7200000" y="4320360"/>
            <a:ext cx="1800000" cy="1677600"/>
          </a:xfrm>
          <a:prstGeom prst="rect">
            <a:avLst/>
          </a:prstGeom>
          <a:ln w="0">
            <a:noFill/>
          </a:ln>
        </p:spPr>
      </p:pic>
      <p:sp>
        <p:nvSpPr>
          <p:cNvPr id="63" name="Google Shape;84;p1"/>
          <p:cNvSpPr/>
          <p:nvPr/>
        </p:nvSpPr>
        <p:spPr>
          <a:xfrm>
            <a:off x="2138400" y="2520000"/>
            <a:ext cx="8301240" cy="9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360" bIns="45360" anchor="t">
            <a:noAutofit/>
          </a:bodyPr>
          <a:p>
            <a:pPr algn="ctr">
              <a:lnSpc>
                <a:spcPct val="115000"/>
              </a:lnSpc>
              <a:spcBef>
                <a:spcPts val="1001"/>
              </a:spcBef>
              <a:tabLst>
                <a:tab algn="l" pos="0"/>
              </a:tabLst>
            </a:pPr>
            <a:r>
              <a:rPr b="1" lang="es-MX" sz="3400" spc="-1" strike="noStrike">
                <a:solidFill>
                  <a:srgbClr val="000000"/>
                </a:solidFill>
                <a:latin typeface="Arial"/>
                <a:ea typeface="Arial"/>
              </a:rPr>
              <a:t>GESTIÓN DE CITAS Y SERVICIOS.</a:t>
            </a:r>
            <a:endParaRPr b="0" lang="es-CO" sz="3400" spc="-1" strike="noStrike">
              <a:solidFill>
                <a:srgbClr val="000000"/>
              </a:solidFill>
              <a:latin typeface="Arial"/>
            </a:endParaRPr>
          </a:p>
          <a:p>
            <a:pPr marL="1828800">
              <a:lnSpc>
                <a:spcPct val="100000"/>
              </a:lnSpc>
              <a:spcBef>
                <a:spcPts val="201"/>
              </a:spcBef>
              <a:tabLst>
                <a:tab algn="l" pos="0"/>
              </a:tabLst>
            </a:pPr>
            <a:r>
              <a:rPr b="1" lang="es-MX" sz="2300" spc="-1" strike="noStrike">
                <a:solidFill>
                  <a:srgbClr val="000000"/>
                </a:solidFill>
                <a:latin typeface="Arial"/>
                <a:ea typeface="Arial"/>
              </a:rPr>
              <a:t>Proyecto: Sistema integrado de Géstion de Clientes,Citas y Ventas ( Para Barbería Vikingos Master).</a:t>
            </a:r>
            <a:endParaRPr b="0" lang="es-CO" sz="2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89;p2"/>
          <p:cNvSpPr/>
          <p:nvPr/>
        </p:nvSpPr>
        <p:spPr>
          <a:xfrm>
            <a:off x="3426120" y="1793520"/>
            <a:ext cx="5339160" cy="159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s-MX" sz="9900" spc="-1" strike="noStrike">
                <a:solidFill>
                  <a:schemeClr val="lt1"/>
                </a:solidFill>
                <a:latin typeface="Work Sans Light"/>
                <a:ea typeface="Work Sans Light"/>
              </a:rPr>
              <a:t>GCS</a:t>
            </a:r>
            <a:endParaRPr b="0" lang="es-CO" sz="99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65" name="Google Shape;90;p2"/>
          <p:cNvCxnSpPr/>
          <p:nvPr/>
        </p:nvCxnSpPr>
        <p:spPr>
          <a:xfrm>
            <a:off x="5227560" y="3321720"/>
            <a:ext cx="1737000" cy="720"/>
          </a:xfrm>
          <a:prstGeom prst="straightConnector1">
            <a:avLst/>
          </a:prstGeom>
          <a:ln w="9525">
            <a:solidFill>
              <a:srgbClr val="ffffff"/>
            </a:solidFill>
            <a:miter/>
          </a:ln>
        </p:spPr>
      </p:cxnSp>
      <p:sp>
        <p:nvSpPr>
          <p:cNvPr id="66" name="Google Shape;91;p2"/>
          <p:cNvSpPr/>
          <p:nvPr/>
        </p:nvSpPr>
        <p:spPr>
          <a:xfrm>
            <a:off x="4286520" y="3405960"/>
            <a:ext cx="3618360" cy="175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s-MX" sz="1700" spc="-1" strike="noStrike">
                <a:solidFill>
                  <a:schemeClr val="lt1"/>
                </a:solidFill>
                <a:latin typeface="Work Sans Light"/>
                <a:ea typeface="Work Sans Light"/>
              </a:rPr>
              <a:t>Chaparro Ramirez Juan Sebastian</a:t>
            </a:r>
            <a:endParaRPr b="0" lang="es-CO" sz="17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s-MX" sz="1700" spc="-1" strike="noStrike">
                <a:solidFill>
                  <a:schemeClr val="lt1"/>
                </a:solidFill>
                <a:latin typeface="Work Sans Light"/>
                <a:ea typeface="Work Sans Light"/>
              </a:rPr>
              <a:t>Pinzon Robles Santiago Alejandro</a:t>
            </a:r>
            <a:endParaRPr b="0" lang="es-CO" sz="17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s-MX" sz="1700" spc="-1" strike="noStrike">
                <a:solidFill>
                  <a:schemeClr val="lt1"/>
                </a:solidFill>
                <a:latin typeface="Work Sans Light"/>
                <a:ea typeface="Work Sans Light"/>
              </a:rPr>
              <a:t>Sanchez Gomez Daiver Andrey</a:t>
            </a:r>
            <a:endParaRPr b="0" lang="es-CO" sz="17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s-MX" sz="1700" spc="-1" strike="noStrike">
                <a:solidFill>
                  <a:schemeClr val="lt1"/>
                </a:solidFill>
                <a:latin typeface="Work Sans Light"/>
                <a:ea typeface="Work Sans Light"/>
              </a:rPr>
              <a:t>Sebastian...</a:t>
            </a:r>
            <a:endParaRPr b="0" lang="es-CO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" name="Google Shape;92;p2"/>
          <p:cNvSpPr/>
          <p:nvPr/>
        </p:nvSpPr>
        <p:spPr>
          <a:xfrm>
            <a:off x="1068840" y="5280120"/>
            <a:ext cx="10053360" cy="106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s-MX" sz="1600" spc="-1" strike="noStrike">
                <a:solidFill>
                  <a:schemeClr val="lt1"/>
                </a:solidFill>
                <a:latin typeface="Work Sans Light"/>
                <a:ea typeface="Work Sans Light"/>
              </a:rPr>
              <a:t>Servicio Nacional de Aprendizaje –SENA, Centro de Electricidad Electrónica y Telecomunicaciones</a:t>
            </a:r>
            <a:endParaRPr b="0" lang="es-CO" sz="16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s-MX" sz="1600" spc="-1" strike="noStrike">
                <a:solidFill>
                  <a:schemeClr val="lt1"/>
                </a:solidFill>
                <a:latin typeface="Work Sans Light"/>
                <a:ea typeface="Work Sans Light"/>
              </a:rPr>
              <a:t>Técnico en Programación de Software - TPS, Primer Trimestre</a:t>
            </a:r>
            <a:endParaRPr b="0" lang="es-CO" sz="16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s-MX" sz="1600" spc="-1" strike="noStrike">
                <a:solidFill>
                  <a:schemeClr val="lt1"/>
                </a:solidFill>
                <a:latin typeface="Work Sans Light"/>
                <a:ea typeface="Work Sans Light"/>
              </a:rPr>
              <a:t>Instructor Albeiro Ramos</a:t>
            </a:r>
            <a:endParaRPr b="0" lang="es-CO" sz="16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s-MX" sz="1600" spc="-1" strike="noStrike">
                <a:solidFill>
                  <a:schemeClr val="lt1"/>
                </a:solidFill>
                <a:latin typeface="Work Sans Light"/>
                <a:ea typeface="Work Sans Light"/>
              </a:rPr>
              <a:t>Bogotá, 25 de marzo de 2023</a:t>
            </a:r>
            <a:endParaRPr b="0" lang="es-CO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" name="Google Shape;93;p2"/>
          <p:cNvSpPr/>
          <p:nvPr/>
        </p:nvSpPr>
        <p:spPr>
          <a:xfrm>
            <a:off x="1080720" y="331560"/>
            <a:ext cx="10029960" cy="74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15000"/>
              </a:lnSpc>
              <a:spcBef>
                <a:spcPts val="1001"/>
              </a:spcBef>
              <a:tabLst>
                <a:tab algn="l" pos="0"/>
              </a:tabLst>
            </a:pPr>
            <a:r>
              <a:rPr b="1" lang="es-MX" sz="3400" spc="-1" strike="noStrike">
                <a:solidFill>
                  <a:srgbClr val="ffffff"/>
                </a:solidFill>
                <a:latin typeface="Arial"/>
                <a:ea typeface="Arial"/>
              </a:rPr>
              <a:t>GESTIÓN DE CITAS Y SERVICIOS. </a:t>
            </a:r>
            <a:endParaRPr b="0" lang="es-CO" sz="3400" spc="-1" strike="noStrike">
              <a:solidFill>
                <a:srgbClr val="ffffff"/>
              </a:solidFill>
              <a:latin typeface="Arial"/>
            </a:endParaRPr>
          </a:p>
          <a:p>
            <a:pPr marL="1828800">
              <a:lnSpc>
                <a:spcPct val="100000"/>
              </a:lnSpc>
              <a:spcBef>
                <a:spcPts val="201"/>
              </a:spcBef>
              <a:tabLst>
                <a:tab algn="l" pos="0"/>
              </a:tabLst>
            </a:pPr>
            <a:endParaRPr b="0" lang="es-CO" sz="1900" spc="-1" strike="noStrike">
              <a:solidFill>
                <a:srgbClr val="ffffff"/>
              </a:solidFill>
              <a:latin typeface="Arial"/>
            </a:endParaRPr>
          </a:p>
          <a:p>
            <a:pPr marL="1828800" algn="ctr">
              <a:lnSpc>
                <a:spcPct val="100000"/>
              </a:lnSpc>
              <a:tabLst>
                <a:tab algn="l" pos="0"/>
              </a:tabLst>
            </a:pPr>
            <a:r>
              <a:rPr b="1" lang="es-MX" sz="2300" spc="-1" strike="noStrike">
                <a:solidFill>
                  <a:srgbClr val="ffffff"/>
                </a:solidFill>
                <a:latin typeface="Arial"/>
                <a:ea typeface="Arial"/>
              </a:rPr>
              <a:t>Proyecto: Sistema Integrado a la Gestión de Clientes,Citas y Ventas</a:t>
            </a:r>
            <a:endParaRPr b="0" lang="es-CO" sz="2300" spc="-1" strike="noStrike">
              <a:solidFill>
                <a:srgbClr val="ffffff"/>
              </a:solidFill>
              <a:latin typeface="Arial"/>
            </a:endParaRPr>
          </a:p>
          <a:p>
            <a:pPr marL="1828800" algn="ctr">
              <a:lnSpc>
                <a:spcPct val="100000"/>
              </a:lnSpc>
              <a:tabLst>
                <a:tab algn="l" pos="0"/>
              </a:tabLst>
            </a:pPr>
            <a:endParaRPr b="0" lang="es-CO" sz="23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98;p3"/>
          <p:cNvSpPr/>
          <p:nvPr/>
        </p:nvSpPr>
        <p:spPr>
          <a:xfrm>
            <a:off x="865800" y="416880"/>
            <a:ext cx="10029960" cy="74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15000"/>
              </a:lnSpc>
              <a:spcBef>
                <a:spcPts val="1001"/>
              </a:spcBef>
              <a:tabLst>
                <a:tab algn="l" pos="0"/>
              </a:tabLst>
            </a:pPr>
            <a:r>
              <a:rPr b="1" lang="es-MX" sz="3400" spc="-1" strike="noStrike">
                <a:solidFill>
                  <a:srgbClr val="ffffff"/>
                </a:solidFill>
                <a:latin typeface="Arial"/>
                <a:ea typeface="Arial"/>
              </a:rPr>
              <a:t>GESTIÓN DE CITAS Y SERVICIOS </a:t>
            </a:r>
            <a:endParaRPr b="0" lang="es-CO" sz="3400" spc="-1" strike="noStrike">
              <a:solidFill>
                <a:srgbClr val="ffffff"/>
              </a:solidFill>
              <a:latin typeface="Arial"/>
            </a:endParaRPr>
          </a:p>
          <a:p>
            <a:pPr marL="1828800">
              <a:lnSpc>
                <a:spcPct val="100000"/>
              </a:lnSpc>
              <a:spcBef>
                <a:spcPts val="201"/>
              </a:spcBef>
              <a:tabLst>
                <a:tab algn="l" pos="0"/>
              </a:tabLst>
            </a:pPr>
            <a:endParaRPr b="0" lang="es-CO" sz="1900" spc="-1" strike="noStrike">
              <a:solidFill>
                <a:srgbClr val="ffffff"/>
              </a:solidFill>
              <a:latin typeface="Arial"/>
            </a:endParaRPr>
          </a:p>
          <a:p>
            <a:pPr marL="1828800" algn="ctr">
              <a:lnSpc>
                <a:spcPct val="100000"/>
              </a:lnSpc>
              <a:tabLst>
                <a:tab algn="l" pos="0"/>
              </a:tabLst>
            </a:pPr>
            <a:r>
              <a:rPr b="1" lang="es-MX" sz="2300" spc="-1" strike="noStrike">
                <a:solidFill>
                  <a:srgbClr val="ffffff"/>
                </a:solidFill>
                <a:latin typeface="Arial"/>
                <a:ea typeface="Arial"/>
              </a:rPr>
              <a:t>Proyecto: Sistema Integrado de Gestión de Clientes, Citas y Ventas</a:t>
            </a:r>
            <a:endParaRPr b="0" lang="es-CO" sz="2300" spc="-1" strike="noStrike">
              <a:solidFill>
                <a:srgbClr val="ffffff"/>
              </a:solidFill>
              <a:latin typeface="Arial"/>
            </a:endParaRPr>
          </a:p>
          <a:p>
            <a:pPr marL="1828800" algn="ctr">
              <a:lnSpc>
                <a:spcPct val="100000"/>
              </a:lnSpc>
              <a:tabLst>
                <a:tab algn="l" pos="0"/>
              </a:tabLst>
            </a:pPr>
            <a:r>
              <a:rPr b="1" lang="es-MX" sz="2300" spc="-1" strike="noStrike">
                <a:solidFill>
                  <a:srgbClr val="ffffff"/>
                </a:solidFill>
                <a:latin typeface="Arial"/>
                <a:ea typeface="Arial"/>
              </a:rPr>
              <a:t>(Para Barbería Vikingos Master)</a:t>
            </a:r>
            <a:endParaRPr b="0" lang="es-CO" sz="2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" name="Google Shape;99;p3"/>
          <p:cNvSpPr/>
          <p:nvPr/>
        </p:nvSpPr>
        <p:spPr>
          <a:xfrm>
            <a:off x="1637280" y="3103920"/>
            <a:ext cx="2849760" cy="264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s-MX" sz="2100" spc="-1" strike="noStrike">
                <a:solidFill>
                  <a:schemeClr val="lt1"/>
                </a:solidFill>
                <a:latin typeface="Arial"/>
                <a:ea typeface="Arial"/>
              </a:rPr>
              <a:t>CONTENIDO</a:t>
            </a:r>
            <a:endParaRPr b="0" lang="es-CO" sz="2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MX" sz="2100" spc="-1" strike="noStrike">
                <a:solidFill>
                  <a:schemeClr val="lt1"/>
                </a:solidFill>
                <a:latin typeface="Arial"/>
                <a:ea typeface="Arial"/>
              </a:rPr>
              <a:t>Problema</a:t>
            </a:r>
            <a:endParaRPr b="0" lang="es-CO" sz="2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MX" sz="2100" spc="-1" strike="noStrike">
                <a:solidFill>
                  <a:schemeClr val="lt1"/>
                </a:solidFill>
                <a:latin typeface="Arial"/>
                <a:ea typeface="Arial"/>
              </a:rPr>
              <a:t>Objetivos</a:t>
            </a:r>
            <a:endParaRPr b="0" lang="es-CO" sz="2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MX" sz="2100" spc="-1" strike="noStrike">
                <a:solidFill>
                  <a:schemeClr val="lt1"/>
                </a:solidFill>
                <a:latin typeface="Arial"/>
                <a:ea typeface="Arial"/>
              </a:rPr>
              <a:t>Justificación</a:t>
            </a:r>
            <a:endParaRPr b="0" lang="es-CO" sz="2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MX" sz="2100" spc="-1" strike="noStrike">
                <a:solidFill>
                  <a:schemeClr val="lt1"/>
                </a:solidFill>
                <a:latin typeface="Arial"/>
                <a:ea typeface="Arial"/>
              </a:rPr>
              <a:t>Alcance</a:t>
            </a:r>
            <a:endParaRPr b="0" lang="es-CO" sz="2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MX" sz="2100" spc="-1" strike="noStrike">
                <a:solidFill>
                  <a:schemeClr val="lt1"/>
                </a:solidFill>
                <a:latin typeface="Arial"/>
                <a:ea typeface="Arial"/>
              </a:rPr>
              <a:t>Módulo de Productos</a:t>
            </a:r>
            <a:endParaRPr b="0" lang="es-CO" sz="2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MX" sz="2100" spc="-1" strike="noStrike">
                <a:solidFill>
                  <a:schemeClr val="lt1"/>
                </a:solidFill>
                <a:latin typeface="Arial"/>
                <a:ea typeface="Arial"/>
              </a:rPr>
              <a:t>Delimitación</a:t>
            </a:r>
            <a:endParaRPr b="0" lang="es-CO" sz="2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MX" sz="2100" spc="-1" strike="noStrike">
                <a:solidFill>
                  <a:schemeClr val="lt1"/>
                </a:solidFill>
                <a:latin typeface="Arial"/>
                <a:ea typeface="Arial"/>
              </a:rPr>
              <a:t>Entregables Trimestre</a:t>
            </a:r>
            <a:endParaRPr b="0" lang="es-CO" sz="21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1" name="Google Shape;100;p3" descr=""/>
          <p:cNvPicPr/>
          <p:nvPr/>
        </p:nvPicPr>
        <p:blipFill>
          <a:blip r:embed="rId2"/>
          <a:srcRect l="3400" t="6772" r="2863" b="3472"/>
          <a:stretch/>
        </p:blipFill>
        <p:spPr>
          <a:xfrm>
            <a:off x="8820000" y="2740320"/>
            <a:ext cx="1979640" cy="1579320"/>
          </a:xfrm>
          <a:prstGeom prst="rect">
            <a:avLst/>
          </a:prstGeom>
          <a:ln w="0">
            <a:noFill/>
          </a:ln>
        </p:spPr>
      </p:pic>
      <p:pic>
        <p:nvPicPr>
          <p:cNvPr id="72" name="Google Shape;101;p3" descr=""/>
          <p:cNvPicPr/>
          <p:nvPr/>
        </p:nvPicPr>
        <p:blipFill>
          <a:blip r:embed="rId3"/>
          <a:srcRect l="2706" t="0" r="2206" b="0"/>
          <a:stretch/>
        </p:blipFill>
        <p:spPr>
          <a:xfrm>
            <a:off x="8820000" y="4500000"/>
            <a:ext cx="2140920" cy="1884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106;p4"/>
          <p:cNvSpPr/>
          <p:nvPr/>
        </p:nvSpPr>
        <p:spPr>
          <a:xfrm rot="16200000">
            <a:off x="6659640" y="1314000"/>
            <a:ext cx="5106960" cy="5956560"/>
          </a:xfrm>
          <a:prstGeom prst="rtTriangle">
            <a:avLst/>
          </a:prstGeom>
          <a:solidFill>
            <a:srgbClr val="38aa00"/>
          </a:solidFill>
          <a:ln w="9525">
            <a:solidFill>
              <a:srgbClr val="6666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s-CO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" name="Google Shape;107;p4"/>
          <p:cNvSpPr/>
          <p:nvPr/>
        </p:nvSpPr>
        <p:spPr>
          <a:xfrm>
            <a:off x="5628600" y="1895040"/>
            <a:ext cx="3513960" cy="67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0" lang="es-MX" sz="3600" spc="-1" strike="noStrike">
                <a:solidFill>
                  <a:srgbClr val="38aa00"/>
                </a:solidFill>
                <a:latin typeface="Work Sans Light"/>
                <a:ea typeface="Work Sans Light"/>
              </a:rPr>
              <a:t>Introducción</a:t>
            </a:r>
            <a:endParaRPr b="0" lang="es-CO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" name="Google Shape;108;p4"/>
          <p:cNvSpPr/>
          <p:nvPr/>
        </p:nvSpPr>
        <p:spPr>
          <a:xfrm>
            <a:off x="5693760" y="2440800"/>
            <a:ext cx="2939400" cy="346320"/>
          </a:xfrm>
          <a:prstGeom prst="rect">
            <a:avLst/>
          </a:prstGeom>
          <a:solidFill>
            <a:srgbClr val="d8d8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s-CO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Google Shape;109;p4"/>
          <p:cNvSpPr/>
          <p:nvPr/>
        </p:nvSpPr>
        <p:spPr>
          <a:xfrm>
            <a:off x="420840" y="3458880"/>
            <a:ext cx="7209360" cy="228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MX" sz="1600" spc="-1" strike="noStrike">
                <a:solidFill>
                  <a:schemeClr val="dk1"/>
                </a:solidFill>
                <a:latin typeface="Arial"/>
                <a:ea typeface="Arial"/>
              </a:rPr>
              <a:t>El proyecto se desarrolla en una empresa (Barbería Vikingos Master) dedicada a la prestación de servicios de barbería y cuidado personal.  </a:t>
            </a:r>
            <a:br>
              <a:rPr sz="1600"/>
            </a:br>
            <a:br>
              <a:rPr sz="1600"/>
            </a:br>
            <a:r>
              <a:rPr b="0" lang="es-MX" sz="1600" spc="-1" strike="noStrike">
                <a:solidFill>
                  <a:schemeClr val="dk1"/>
                </a:solidFill>
                <a:latin typeface="Arial"/>
                <a:ea typeface="Arial"/>
              </a:rPr>
              <a:t>Debido al crecimiento del negocio y al manejo manual de citas, se requiere mejorar la gestión de los procesos. </a:t>
            </a:r>
            <a:br>
              <a:rPr sz="1600"/>
            </a:br>
            <a:br>
              <a:rPr sz="1600"/>
            </a:br>
            <a:r>
              <a:rPr b="0" lang="es-MX" sz="1600" spc="-1" strike="noStrike">
                <a:solidFill>
                  <a:schemeClr val="dk1"/>
                </a:solidFill>
                <a:latin typeface="Arial"/>
                <a:ea typeface="Arial"/>
              </a:rPr>
              <a:t>Se propone el diseño de un sistema de información. Esto permitirá administrar clientes, citas, barberos, servicios, productos y ventas de una forma eficiente.</a:t>
            </a:r>
            <a:endParaRPr b="0" lang="es-CO" sz="16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7" name="Google Shape;110;p4" descr=""/>
          <p:cNvPicPr/>
          <p:nvPr/>
        </p:nvPicPr>
        <p:blipFill>
          <a:blip r:embed="rId2"/>
          <a:stretch/>
        </p:blipFill>
        <p:spPr>
          <a:xfrm>
            <a:off x="1089360" y="393120"/>
            <a:ext cx="3410280" cy="2666520"/>
          </a:xfrm>
          <a:prstGeom prst="rect">
            <a:avLst/>
          </a:prstGeom>
          <a:ln w="0">
            <a:noFill/>
          </a:ln>
        </p:spPr>
      </p:pic>
      <p:pic>
        <p:nvPicPr>
          <p:cNvPr id="78" name="Google Shape;111;p4" descr=""/>
          <p:cNvPicPr/>
          <p:nvPr/>
        </p:nvPicPr>
        <p:blipFill>
          <a:blip r:embed="rId3"/>
          <a:srcRect l="2706" t="0" r="2206" b="0"/>
          <a:stretch/>
        </p:blipFill>
        <p:spPr>
          <a:xfrm>
            <a:off x="8100000" y="185040"/>
            <a:ext cx="1850400" cy="1614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394920" y="100800"/>
            <a:ext cx="795348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MX" sz="6000" spc="-1" strike="noStrike">
                <a:solidFill>
                  <a:schemeClr val="lt1"/>
                </a:solidFill>
                <a:latin typeface="Work Sans Medium"/>
                <a:ea typeface="Work Sans Medium"/>
              </a:rPr>
              <a:t>Pro</a:t>
            </a:r>
            <a:r>
              <a:rPr b="0" lang="es-MX" sz="6000" spc="-1" strike="noStrike">
                <a:solidFill>
                  <a:schemeClr val="lt1"/>
                </a:solidFill>
                <a:latin typeface="Work Sans Medium"/>
                <a:ea typeface="Work Sans Medium"/>
              </a:rPr>
              <a:t>ble</a:t>
            </a:r>
            <a:r>
              <a:rPr b="0" lang="es-MX" sz="6000" spc="-1" strike="noStrike">
                <a:solidFill>
                  <a:schemeClr val="lt1"/>
                </a:solidFill>
                <a:latin typeface="Work Sans Medium"/>
                <a:ea typeface="Work Sans Medium"/>
              </a:rPr>
              <a:t>ma</a:t>
            </a:r>
            <a:endParaRPr b="0" lang="es-CO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Google Shape;117;p5"/>
          <p:cNvSpPr/>
          <p:nvPr/>
        </p:nvSpPr>
        <p:spPr>
          <a:xfrm>
            <a:off x="180000" y="1620000"/>
            <a:ext cx="4955040" cy="481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15000"/>
              </a:lnSpc>
              <a:spcBef>
                <a:spcPts val="1400"/>
              </a:spcBef>
              <a:tabLst>
                <a:tab algn="l" pos="0"/>
              </a:tabLst>
            </a:pPr>
            <a:r>
              <a:rPr b="0" lang="es-MX" sz="1900" spc="-1" strike="noStrike">
                <a:solidFill>
                  <a:srgbClr val="ff0000"/>
                </a:solidFill>
                <a:latin typeface="Arial"/>
                <a:ea typeface="Arial"/>
              </a:rPr>
              <a:t>El Problema Central</a:t>
            </a:r>
            <a:endParaRPr b="0" lang="es-CO" sz="1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spcBef>
                <a:spcPts val="1199"/>
              </a:spcBef>
              <a:tabLst>
                <a:tab algn="l" pos="0"/>
              </a:tabLst>
            </a:pPr>
            <a:r>
              <a:rPr b="0" lang="es-MX" sz="1100" spc="-1" strike="noStrike">
                <a:solidFill>
                  <a:srgbClr val="000000"/>
                </a:solidFill>
                <a:latin typeface="Arial"/>
                <a:ea typeface="Arial"/>
              </a:rPr>
              <a:t>Existe una </a:t>
            </a:r>
            <a:r>
              <a:rPr b="1" lang="es-MX" sz="1100" spc="-1" strike="noStrike">
                <a:solidFill>
                  <a:srgbClr val="000000"/>
                </a:solidFill>
                <a:latin typeface="Arial"/>
                <a:ea typeface="Arial"/>
              </a:rPr>
              <a:t>gestión fragmentada y manual de citas, clientes e inventario </a:t>
            </a:r>
            <a:r>
              <a:rPr b="0" lang="es-MX" sz="1100" spc="-1" strike="noStrike">
                <a:solidFill>
                  <a:srgbClr val="000000"/>
                </a:solidFill>
                <a:latin typeface="Arial"/>
                <a:ea typeface="Arial"/>
              </a:rPr>
              <a:t>en la barbería, lo que genera una </a:t>
            </a:r>
            <a:r>
              <a:rPr b="1" lang="es-MX" sz="1100" spc="-1" strike="noStrike">
                <a:solidFill>
                  <a:srgbClr val="000000"/>
                </a:solidFill>
                <a:latin typeface="Arial"/>
                <a:ea typeface="Arial"/>
              </a:rPr>
              <a:t>experiencia de servicio inconsistente </a:t>
            </a:r>
            <a:r>
              <a:rPr b="0" lang="es-MX" sz="1100" spc="-1" strike="noStrike">
                <a:solidFill>
                  <a:srgbClr val="000000"/>
                </a:solidFill>
                <a:latin typeface="Arial"/>
                <a:ea typeface="Arial"/>
              </a:rPr>
              <a:t> para los clientes, con pérdida de tiempo y dobles reservas.</a:t>
            </a:r>
            <a:endParaRPr b="0" lang="es-CO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199"/>
              </a:spcBef>
              <a:tabLst>
                <a:tab algn="l" pos="0"/>
              </a:tabLst>
            </a:pPr>
            <a:r>
              <a:rPr b="0" lang="es-MX" sz="2000" spc="-1" strike="noStrike">
                <a:solidFill>
                  <a:schemeClr val="dk1"/>
                </a:solidFill>
                <a:latin typeface="Work Sans Light"/>
                <a:ea typeface="Work Sans Light"/>
              </a:rPr>
              <a:t>La información se recopiló mediante </a:t>
            </a:r>
            <a:r>
              <a:rPr b="0" lang="es-MX" sz="2000" spc="-1" strike="noStrike">
                <a:solidFill>
                  <a:srgbClr val="0000ff"/>
                </a:solidFill>
                <a:latin typeface="Work Sans"/>
                <a:ea typeface="Work Sans"/>
              </a:rPr>
              <a:t>actividades de observación directa con el participante (MATRIZ FODA) y revision de documentacion</a:t>
            </a:r>
            <a:endParaRPr b="0" lang="es-CO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spcBef>
                <a:spcPts val="1400"/>
              </a:spcBef>
              <a:tabLst>
                <a:tab algn="l" pos="0"/>
              </a:tabLst>
            </a:pPr>
            <a:r>
              <a:rPr b="1" lang="es-MX" sz="1300" spc="-1" strike="noStrike">
                <a:solidFill>
                  <a:srgbClr val="000000"/>
                </a:solidFill>
                <a:latin typeface="Arial"/>
                <a:ea typeface="Arial"/>
              </a:rPr>
              <a:t>Puntos debiles (D1 - D3)</a:t>
            </a:r>
            <a:endParaRPr b="0" lang="es-CO" sz="13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1" lang="es-MX" sz="1100" spc="-1" strike="noStrike">
                <a:solidFill>
                  <a:srgbClr val="000000"/>
                </a:solidFill>
                <a:latin typeface="Arial"/>
                <a:ea typeface="Arial"/>
              </a:rPr>
              <a:t>Agenda Manual (D1):</a:t>
            </a:r>
            <a:r>
              <a:rPr b="0" lang="es-MX" sz="11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r>
              <a:rPr b="1" lang="es-MX" sz="1100" spc="-1" strike="noStrike">
                <a:solidFill>
                  <a:srgbClr val="ff0000"/>
                </a:solidFill>
                <a:latin typeface="Arial"/>
                <a:ea typeface="Arial"/>
              </a:rPr>
              <a:t>Dependencia de cuadernos y mensajes de WhatsApp para agendar citas</a:t>
            </a:r>
            <a:r>
              <a:rPr b="0" lang="es-MX" sz="1100" spc="-1" strike="noStrike">
                <a:solidFill>
                  <a:srgbClr val="000000"/>
                </a:solidFill>
                <a:latin typeface="Arial"/>
                <a:ea typeface="Arial"/>
              </a:rPr>
              <a:t>. Resulta en dobles reservas, olvidos y pérdida de clientes.</a:t>
            </a:r>
            <a:endParaRPr b="0" lang="es-CO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1" lang="es-MX" sz="1100" spc="-1" strike="noStrike">
                <a:solidFill>
                  <a:srgbClr val="000000"/>
                </a:solidFill>
                <a:latin typeface="Arial"/>
                <a:ea typeface="Arial"/>
              </a:rPr>
              <a:t>Falta de Historial de Clientes (D2):</a:t>
            </a:r>
            <a:r>
              <a:rPr b="0" lang="es-MX" sz="11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r>
              <a:rPr b="1" lang="es-MX" sz="1100" spc="-1" strike="noStrike">
                <a:solidFill>
                  <a:srgbClr val="ff0000"/>
                </a:solidFill>
                <a:latin typeface="Arial"/>
                <a:ea typeface="Arial"/>
              </a:rPr>
              <a:t>Ausencia de un registro centralizado de servicios y preferencias</a:t>
            </a:r>
            <a:r>
              <a:rPr b="0" lang="es-MX" sz="1100" spc="-1" strike="noStrike">
                <a:solidFill>
                  <a:srgbClr val="000000"/>
                </a:solidFill>
                <a:latin typeface="Arial"/>
                <a:ea typeface="Arial"/>
              </a:rPr>
              <a:t>. Esto impide </a:t>
            </a:r>
            <a:r>
              <a:rPr b="1" lang="es-MX" sz="1100" spc="-1" strike="noStrike">
                <a:solidFill>
                  <a:srgbClr val="000000"/>
                </a:solidFill>
                <a:latin typeface="Arial"/>
                <a:ea typeface="Arial"/>
              </a:rPr>
              <a:t>fidelizar clientes</a:t>
            </a:r>
            <a:r>
              <a:rPr b="0" lang="es-MX" sz="1100" spc="-1" strike="noStrike">
                <a:solidFill>
                  <a:srgbClr val="000000"/>
                </a:solidFill>
                <a:latin typeface="Arial"/>
                <a:ea typeface="Arial"/>
              </a:rPr>
              <a:t> y personalizar la atención según el historial de cada uno.</a:t>
            </a:r>
            <a:endParaRPr b="0" lang="es-CO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1" lang="es-CO" sz="1100" spc="-1" strike="noStrike">
                <a:solidFill>
                  <a:srgbClr val="000000"/>
                </a:solidFill>
                <a:latin typeface="Arial"/>
                <a:ea typeface="Arial"/>
              </a:rPr>
              <a:t>Descontrol de Ventas e Inventario (D3):</a:t>
            </a:r>
            <a:r>
              <a:rPr b="0" lang="es-CO" sz="11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r>
              <a:rPr b="1" lang="es-CO" sz="1100" spc="-1" strike="noStrike">
                <a:solidFill>
                  <a:srgbClr val="ff0000"/>
                </a:solidFill>
                <a:latin typeface="Arial"/>
                <a:ea typeface="Arial"/>
              </a:rPr>
              <a:t>Desconexión entre los servicios prestados, los productos usados y los pagos recibidos</a:t>
            </a:r>
            <a:r>
              <a:rPr b="0" lang="es-CO" sz="1100" spc="-1" strike="noStrike">
                <a:solidFill>
                  <a:srgbClr val="000000"/>
                </a:solidFill>
                <a:latin typeface="Arial"/>
                <a:ea typeface="Arial"/>
              </a:rPr>
              <a:t>, causando errores de caja y falta de control de insumos.</a:t>
            </a:r>
            <a:endParaRPr b="0" lang="es-CO" sz="1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1" name="Google Shape;118;p5" descr=""/>
          <p:cNvPicPr/>
          <p:nvPr/>
        </p:nvPicPr>
        <p:blipFill>
          <a:blip r:embed="rId1"/>
          <a:srcRect l="3400" t="6772" r="2863" b="3472"/>
          <a:stretch/>
        </p:blipFill>
        <p:spPr>
          <a:xfrm>
            <a:off x="7740000" y="279000"/>
            <a:ext cx="1397160" cy="968760"/>
          </a:xfrm>
          <a:prstGeom prst="rect">
            <a:avLst/>
          </a:prstGeom>
          <a:ln w="0">
            <a:noFill/>
          </a:ln>
        </p:spPr>
      </p:pic>
      <p:pic>
        <p:nvPicPr>
          <p:cNvPr id="82" name="Google Shape;119;p5" descr=""/>
          <p:cNvPicPr/>
          <p:nvPr/>
        </p:nvPicPr>
        <p:blipFill>
          <a:blip r:embed="rId2"/>
          <a:srcRect l="2706" t="0" r="2206" b="0"/>
          <a:stretch/>
        </p:blipFill>
        <p:spPr>
          <a:xfrm>
            <a:off x="9419040" y="185400"/>
            <a:ext cx="1324440" cy="1155600"/>
          </a:xfrm>
          <a:prstGeom prst="rect">
            <a:avLst/>
          </a:prstGeom>
          <a:ln w="0">
            <a:noFill/>
          </a:ln>
        </p:spPr>
      </p:pic>
      <p:pic>
        <p:nvPicPr>
          <p:cNvPr id="83" name="" descr=""/>
          <p:cNvPicPr/>
          <p:nvPr/>
        </p:nvPicPr>
        <p:blipFill>
          <a:blip r:embed="rId3"/>
          <a:stretch/>
        </p:blipFill>
        <p:spPr>
          <a:xfrm>
            <a:off x="7560000" y="1426320"/>
            <a:ext cx="4631760" cy="5417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125;p6"/>
          <p:cNvSpPr/>
          <p:nvPr/>
        </p:nvSpPr>
        <p:spPr>
          <a:xfrm>
            <a:off x="1447200" y="808920"/>
            <a:ext cx="3468240" cy="137880"/>
          </a:xfrm>
          <a:prstGeom prst="rect">
            <a:avLst/>
          </a:prstGeom>
          <a:solidFill>
            <a:srgbClr val="d8d8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s-CO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Google Shape;126;p6"/>
          <p:cNvSpPr/>
          <p:nvPr/>
        </p:nvSpPr>
        <p:spPr>
          <a:xfrm>
            <a:off x="1143360" y="310680"/>
            <a:ext cx="4076280" cy="5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90000"/>
              </a:lnSpc>
              <a:tabLst>
                <a:tab algn="l" pos="0"/>
              </a:tabLst>
            </a:pPr>
            <a:r>
              <a:rPr b="1" lang="es-MX" sz="3200" spc="-1" strike="noStrike">
                <a:solidFill>
                  <a:srgbClr val="38aa00"/>
                </a:solidFill>
                <a:latin typeface="Work Sans"/>
                <a:ea typeface="Work Sans"/>
              </a:rPr>
              <a:t>Objetivo General</a:t>
            </a:r>
            <a:endParaRPr b="0" lang="es-CO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Google Shape;127;p6"/>
          <p:cNvSpPr/>
          <p:nvPr/>
        </p:nvSpPr>
        <p:spPr>
          <a:xfrm>
            <a:off x="556200" y="1287000"/>
            <a:ext cx="7445160" cy="131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65760">
              <a:lnSpc>
                <a:spcPct val="115000"/>
              </a:lnSpc>
              <a:tabLst>
                <a:tab algn="l" pos="0"/>
              </a:tabLst>
            </a:pPr>
            <a:r>
              <a:rPr b="1" lang="es-MX" sz="1400" spc="-1" strike="noStrike">
                <a:solidFill>
                  <a:srgbClr val="0000ff"/>
                </a:solidFill>
                <a:latin typeface="Arial"/>
                <a:ea typeface="Arial"/>
              </a:rPr>
              <a:t>Desarrollar un sistema integrado de información</a:t>
            </a:r>
            <a:r>
              <a:rPr b="0" lang="es-MX" sz="1400" spc="-1" strike="noStrike">
                <a:solidFill>
                  <a:srgbClr val="000000"/>
                </a:solidFill>
                <a:latin typeface="Arial"/>
                <a:ea typeface="Arial"/>
              </a:rPr>
              <a:t> para la gestión de clientes, citas, barberos, servicios, productos y ventas de la </a:t>
            </a:r>
            <a:r>
              <a:rPr b="1" lang="es-MX" sz="1400" spc="-1" strike="noStrike">
                <a:solidFill>
                  <a:srgbClr val="000000"/>
                </a:solidFill>
                <a:latin typeface="Arial"/>
                <a:ea typeface="Arial"/>
              </a:rPr>
              <a:t>Barbería Vikingos Master</a:t>
            </a:r>
            <a:r>
              <a:rPr b="0" lang="es-MX" sz="1400" spc="-1" strike="noStrike">
                <a:solidFill>
                  <a:srgbClr val="000000"/>
                </a:solidFill>
                <a:latin typeface="Arial"/>
                <a:ea typeface="Arial"/>
              </a:rPr>
              <a:t>, que centralice la operación del negocio, automatice el agendamiento de citas y asegure la integridad de los datos.</a:t>
            </a:r>
            <a:endParaRPr b="0" lang="es-CO" sz="1400" spc="-1" strike="noStrike">
              <a:solidFill>
                <a:srgbClr val="000000"/>
              </a:solidFill>
              <a:latin typeface="Arial"/>
            </a:endParaRPr>
          </a:p>
          <a:p>
            <a:pPr marL="365760">
              <a:lnSpc>
                <a:spcPct val="100000"/>
              </a:lnSpc>
              <a:tabLst>
                <a:tab algn="l" pos="0"/>
              </a:tabLst>
            </a:pPr>
            <a:endParaRPr b="0" lang="es-CO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Google Shape;128;p6"/>
          <p:cNvSpPr/>
          <p:nvPr/>
        </p:nvSpPr>
        <p:spPr>
          <a:xfrm>
            <a:off x="1226160" y="3338640"/>
            <a:ext cx="3910320" cy="180000"/>
          </a:xfrm>
          <a:prstGeom prst="rect">
            <a:avLst/>
          </a:prstGeom>
          <a:solidFill>
            <a:srgbClr val="d8d8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s-CO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Google Shape;129;p6"/>
          <p:cNvSpPr/>
          <p:nvPr/>
        </p:nvSpPr>
        <p:spPr>
          <a:xfrm>
            <a:off x="1039320" y="2867760"/>
            <a:ext cx="5397840" cy="5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1" lang="es-MX" sz="3200" spc="-1" strike="noStrike">
                <a:solidFill>
                  <a:srgbClr val="38aa00"/>
                </a:solidFill>
                <a:latin typeface="Work Sans"/>
                <a:ea typeface="Work Sans"/>
              </a:rPr>
              <a:t>Objetivo Específicos</a:t>
            </a:r>
            <a:endParaRPr b="0" lang="es-CO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Google Shape;130;p6"/>
          <p:cNvSpPr/>
          <p:nvPr/>
        </p:nvSpPr>
        <p:spPr>
          <a:xfrm>
            <a:off x="517680" y="3420000"/>
            <a:ext cx="7761960" cy="255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15000"/>
              </a:lnSpc>
              <a:spcBef>
                <a:spcPts val="1199"/>
              </a:spcBef>
              <a:tabLst>
                <a:tab algn="l" pos="0"/>
              </a:tabLst>
            </a:pPr>
            <a:r>
              <a:rPr b="0" lang="es-MX" sz="1100" spc="-1" strike="noStrike">
                <a:solidFill>
                  <a:srgbClr val="000000"/>
                </a:solidFill>
                <a:latin typeface="Arial"/>
                <a:ea typeface="Arial"/>
              </a:rPr>
              <a:t>Para alcanzar el propósito principal, los objetivos del proyecto se plantean bajo los siguientes hitos técnicos:</a:t>
            </a:r>
            <a:endParaRPr b="0" lang="es-CO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spcBef>
                <a:spcPts val="1199"/>
              </a:spcBef>
              <a:tabLst>
                <a:tab algn="l" pos="0"/>
              </a:tabLst>
            </a:pPr>
            <a:r>
              <a:rPr b="1" lang="es-MX" sz="1100" spc="-1" strike="noStrike">
                <a:solidFill>
                  <a:srgbClr val="000000"/>
                </a:solidFill>
                <a:latin typeface="Arial"/>
                <a:ea typeface="Arial"/>
              </a:rPr>
              <a:t>Fase de Análisis:</a:t>
            </a:r>
            <a:r>
              <a:rPr b="0" lang="es-MX" sz="11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r>
              <a:rPr b="1" lang="es-MX" sz="1100" spc="-1" strike="noStrike">
                <a:solidFill>
                  <a:srgbClr val="0000ff"/>
                </a:solidFill>
                <a:latin typeface="Arial"/>
                <a:ea typeface="Arial"/>
              </a:rPr>
              <a:t>Caracterizar los flujos de información</a:t>
            </a:r>
            <a:r>
              <a:rPr b="0" lang="es-MX" sz="1100" spc="-1" strike="noStrike">
                <a:solidFill>
                  <a:srgbClr val="000000"/>
                </a:solidFill>
                <a:latin typeface="Arial"/>
                <a:ea typeface="Arial"/>
              </a:rPr>
              <a:t> de los 7 módulos del sistema (Clientes, Citas, Barberos, Servicios, Productos, Ventas/Pagos, Administrador) para asegurar la cobertura total de los procesos de la barbería.</a:t>
            </a:r>
            <a:endParaRPr b="0" lang="es-CO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es-MX" sz="1100" spc="-1" strike="noStrike">
                <a:solidFill>
                  <a:srgbClr val="000000"/>
                </a:solidFill>
                <a:latin typeface="Arial"/>
                <a:ea typeface="Arial"/>
              </a:rPr>
              <a:t>Fase de Diseño:</a:t>
            </a:r>
            <a:r>
              <a:rPr b="0" lang="es-MX" sz="11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r>
              <a:rPr b="1" lang="es-MX" sz="1100" spc="-1" strike="noStrike">
                <a:solidFill>
                  <a:srgbClr val="0000ff"/>
                </a:solidFill>
                <a:latin typeface="Arial"/>
                <a:ea typeface="Arial"/>
              </a:rPr>
              <a:t>Diseñar la arquitectura de software y la interfaz de usuario</a:t>
            </a:r>
            <a:r>
              <a:rPr b="0" lang="es-MX" sz="1100" spc="-1" strike="noStrike">
                <a:solidFill>
                  <a:srgbClr val="000000"/>
                </a:solidFill>
                <a:latin typeface="Arial"/>
                <a:ea typeface="Arial"/>
              </a:rPr>
              <a:t>, garantizando la usabilidad para el personal de la barbería y la seguridad mediante control de acceso por roles.</a:t>
            </a:r>
            <a:endParaRPr b="0" lang="es-CO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es-MX" sz="1100" spc="-1" strike="noStrike">
                <a:solidFill>
                  <a:srgbClr val="000000"/>
                </a:solidFill>
                <a:latin typeface="Arial"/>
                <a:ea typeface="Arial"/>
              </a:rPr>
              <a:t>Fase de Desarrollo:</a:t>
            </a:r>
            <a:r>
              <a:rPr b="0" lang="es-MX" sz="11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r>
              <a:rPr b="1" lang="es-MX" sz="1100" spc="-1" strike="noStrike">
                <a:solidFill>
                  <a:srgbClr val="0000ff"/>
                </a:solidFill>
                <a:latin typeface="Arial"/>
                <a:ea typeface="Arial"/>
              </a:rPr>
              <a:t>Construir los módulos funcionales del sistema</a:t>
            </a:r>
            <a:r>
              <a:rPr b="0" lang="es-MX" sz="1100" spc="-1" strike="noStrike">
                <a:solidFill>
                  <a:srgbClr val="000000"/>
                </a:solidFill>
                <a:latin typeface="Arial"/>
                <a:ea typeface="Arial"/>
              </a:rPr>
              <a:t> (Registro de Clientes, Gestión de Citas, Administración de Barberos, Catálogo de Servicios y Catálogo de Productos) integrando las "Reglas de Negocio" que impidan la doble reserva de citas y el registro de ventas sin stock disponible.</a:t>
            </a:r>
            <a:endParaRPr b="0" lang="es-CO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es-MX" sz="1100" spc="-1" strike="noStrike">
                <a:solidFill>
                  <a:srgbClr val="000000"/>
                </a:solidFill>
                <a:latin typeface="Arial"/>
                <a:ea typeface="Arial"/>
              </a:rPr>
              <a:t>Fase de Calidad:</a:t>
            </a:r>
            <a:r>
              <a:rPr b="0" lang="es-MX" sz="11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r>
              <a:rPr b="1" lang="es-MX" sz="1100" spc="-1" strike="noStrike">
                <a:solidFill>
                  <a:srgbClr val="0000ff"/>
                </a:solidFill>
                <a:latin typeface="Arial"/>
                <a:ea typeface="Arial"/>
              </a:rPr>
              <a:t>Validar el sistema mediante pruebas de software</a:t>
            </a:r>
            <a:r>
              <a:rPr b="0" lang="es-MX" sz="1100" spc="-1" strike="noStrike">
                <a:solidFill>
                  <a:srgbClr val="000000"/>
                </a:solidFill>
                <a:latin typeface="Arial"/>
                <a:ea typeface="Arial"/>
              </a:rPr>
              <a:t> mediante casos de prueba </a:t>
            </a:r>
            <a:r>
              <a:rPr b="1" lang="es-MX" sz="1100" spc="-1" strike="noStrike">
                <a:solidFill>
                  <a:srgbClr val="000000"/>
                </a:solidFill>
                <a:latin typeface="Arial"/>
                <a:ea typeface="Arial"/>
              </a:rPr>
              <a:t>funcionales y de usabilidad</a:t>
            </a:r>
            <a:r>
              <a:rPr b="0" lang="es-MX" sz="1100" spc="-1" strike="noStrike">
                <a:solidFill>
                  <a:srgbClr val="000000"/>
                </a:solidFill>
                <a:latin typeface="Arial"/>
                <a:ea typeface="Arial"/>
              </a:rPr>
              <a:t>, evaluando la eficiencia, la seguridad y la fiabilidad de la plataforma.</a:t>
            </a:r>
            <a:endParaRPr b="0" lang="es-CO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es-MX" sz="1100" spc="-1" strike="noStrike">
                <a:solidFill>
                  <a:srgbClr val="000000"/>
                </a:solidFill>
                <a:latin typeface="Arial"/>
                <a:ea typeface="Arial"/>
              </a:rPr>
              <a:t>Fase de Implementación:</a:t>
            </a:r>
            <a:r>
              <a:rPr b="0" lang="es-MX" sz="11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r>
              <a:rPr b="1" lang="es-MX" sz="1100" spc="-1" strike="noStrike">
                <a:solidFill>
                  <a:srgbClr val="0000ff"/>
                </a:solidFill>
                <a:latin typeface="Arial"/>
                <a:ea typeface="Arial"/>
              </a:rPr>
              <a:t>Desplegar la solución en un entorno productivo</a:t>
            </a:r>
            <a:r>
              <a:rPr b="0" lang="es-MX" sz="1100" spc="-1" strike="noStrike">
                <a:solidFill>
                  <a:srgbClr val="000000"/>
                </a:solidFill>
                <a:latin typeface="Arial"/>
                <a:ea typeface="Arial"/>
              </a:rPr>
              <a:t> y capacitar al personal de la barbería, mitigando la resistencia al cambio mediante estrategias de adopción digital.</a:t>
            </a:r>
            <a:endParaRPr b="0" lang="es-CO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Google Shape;131;p6"/>
          <p:cNvSpPr/>
          <p:nvPr/>
        </p:nvSpPr>
        <p:spPr>
          <a:xfrm rot="16200000">
            <a:off x="6969240" y="1635840"/>
            <a:ext cx="5163480" cy="5280840"/>
          </a:xfrm>
          <a:prstGeom prst="rtTriangle">
            <a:avLst/>
          </a:prstGeom>
          <a:solidFill>
            <a:srgbClr val="3aac00"/>
          </a:solidFill>
          <a:ln w="25400">
            <a:solidFill>
              <a:srgbClr val="3aac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s-CO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456120" y="110520"/>
            <a:ext cx="765216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MX" sz="6000" spc="-1" strike="noStrike">
                <a:solidFill>
                  <a:schemeClr val="lt1"/>
                </a:solidFill>
                <a:latin typeface="Work Sans Medium"/>
                <a:ea typeface="Work Sans Medium"/>
              </a:rPr>
              <a:t>Just</a:t>
            </a:r>
            <a:r>
              <a:rPr b="0" lang="es-MX" sz="6000" spc="-1" strike="noStrike">
                <a:solidFill>
                  <a:schemeClr val="lt1"/>
                </a:solidFill>
                <a:latin typeface="Work Sans Medium"/>
                <a:ea typeface="Work Sans Medium"/>
              </a:rPr>
              <a:t>ific</a:t>
            </a:r>
            <a:r>
              <a:rPr b="0" lang="es-MX" sz="6000" spc="-1" strike="noStrike">
                <a:solidFill>
                  <a:schemeClr val="lt1"/>
                </a:solidFill>
                <a:latin typeface="Work Sans Medium"/>
                <a:ea typeface="Work Sans Medium"/>
              </a:rPr>
              <a:t>aci</a:t>
            </a:r>
            <a:r>
              <a:rPr b="0" lang="es-MX" sz="6000" spc="-1" strike="noStrike">
                <a:solidFill>
                  <a:schemeClr val="lt1"/>
                </a:solidFill>
                <a:latin typeface="Work Sans Medium"/>
                <a:ea typeface="Work Sans Medium"/>
              </a:rPr>
              <a:t>ón</a:t>
            </a:r>
            <a:endParaRPr b="0" lang="es-CO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Google Shape;137;p7"/>
          <p:cNvSpPr/>
          <p:nvPr/>
        </p:nvSpPr>
        <p:spPr>
          <a:xfrm>
            <a:off x="254160" y="1780920"/>
            <a:ext cx="11580840" cy="437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15000"/>
              </a:lnSpc>
              <a:spcBef>
                <a:spcPts val="1199"/>
              </a:spcBef>
              <a:tabLst>
                <a:tab algn="l" pos="0"/>
              </a:tabLst>
            </a:pPr>
            <a:r>
              <a:rPr b="0" lang="es-MX" sz="1500" spc="-1" strike="noStrike">
                <a:solidFill>
                  <a:srgbClr val="000000"/>
                </a:solidFill>
                <a:latin typeface="Arial"/>
                <a:ea typeface="Arial"/>
              </a:rPr>
              <a:t>La implementación del </a:t>
            </a:r>
            <a:r>
              <a:rPr b="1" lang="es-MX" sz="1500" spc="-1" strike="noStrike">
                <a:solidFill>
                  <a:srgbClr val="000000"/>
                </a:solidFill>
                <a:latin typeface="Arial"/>
                <a:ea typeface="Arial"/>
              </a:rPr>
              <a:t>Sistema Integral Vikingos Master</a:t>
            </a:r>
            <a:r>
              <a:rPr b="0" lang="es-MX" sz="1500" spc="-1" strike="noStrike">
                <a:solidFill>
                  <a:srgbClr val="000000"/>
                </a:solidFill>
                <a:latin typeface="Arial"/>
                <a:ea typeface="Arial"/>
              </a:rPr>
              <a:t> no es solo una actualización tecnológica, es una respuesta estratégica a la necesidad de crecimiento y </a:t>
            </a:r>
            <a:r>
              <a:rPr b="1" lang="es-MX" sz="1500" spc="-1" strike="noStrike">
                <a:solidFill>
                  <a:srgbClr val="ff0000"/>
                </a:solidFill>
                <a:latin typeface="Arial"/>
                <a:ea typeface="Arial"/>
              </a:rPr>
              <a:t>fidelización de clientes</a:t>
            </a:r>
            <a:r>
              <a:rPr b="0" lang="es-MX" sz="1500" spc="-1" strike="noStrike">
                <a:solidFill>
                  <a:srgbClr val="000000"/>
                </a:solidFill>
                <a:latin typeface="Arial"/>
                <a:ea typeface="Arial"/>
              </a:rPr>
              <a:t> de la barbería. </a:t>
            </a:r>
            <a:br>
              <a:rPr sz="1500"/>
            </a:br>
            <a:r>
              <a:rPr b="0" lang="es-MX" sz="1500" spc="-1" strike="noStrike">
                <a:solidFill>
                  <a:srgbClr val="000000"/>
                </a:solidFill>
                <a:latin typeface="Arial"/>
                <a:ea typeface="Arial"/>
              </a:rPr>
              <a:t>La justificación de este proyecto se basa en tres pilares</a:t>
            </a:r>
            <a:endParaRPr b="0" lang="es-CO" sz="1500" spc="-1" strike="noStrike">
              <a:solidFill>
                <a:srgbClr val="000000"/>
              </a:solidFill>
              <a:latin typeface="Arial"/>
            </a:endParaRPr>
          </a:p>
          <a:p>
            <a:pPr marL="457200" indent="-32400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AutoNum type="alphaLcPeriod"/>
              <a:tabLst>
                <a:tab algn="l" pos="0"/>
              </a:tabLst>
            </a:pPr>
            <a:r>
              <a:rPr b="1" lang="es-MX" sz="1500" spc="-1" strike="noStrike">
                <a:solidFill>
                  <a:srgbClr val="0000ff"/>
                </a:solidFill>
                <a:latin typeface="Arial"/>
                <a:ea typeface="Arial"/>
              </a:rPr>
              <a:t>Reducción de Pérdidas por Desorganización:</a:t>
            </a:r>
            <a:r>
              <a:rPr b="0" lang="es-MX" sz="1500" spc="-1" strike="noStrike">
                <a:solidFill>
                  <a:srgbClr val="000000"/>
                </a:solidFill>
                <a:latin typeface="Arial"/>
                <a:ea typeface="Arial"/>
              </a:rPr>
              <a:t> Actualmente, la falta de un sistema de citas provoca </a:t>
            </a:r>
            <a:r>
              <a:rPr b="1" lang="es-MX" sz="1500" spc="-1" strike="noStrike">
                <a:solidFill>
                  <a:srgbClr val="ff0000"/>
                </a:solidFill>
                <a:latin typeface="Arial"/>
                <a:ea typeface="Arial"/>
              </a:rPr>
              <a:t>dobles reservas y tiempos muertos entre clientes</a:t>
            </a:r>
            <a:r>
              <a:rPr b="0" lang="es-MX" sz="1500" spc="-1" strike="noStrike">
                <a:solidFill>
                  <a:srgbClr val="000000"/>
                </a:solidFill>
                <a:latin typeface="Arial"/>
                <a:ea typeface="Arial"/>
              </a:rPr>
              <a:t>. Cada cita perdida u horario mal aprovechado representa una </a:t>
            </a:r>
            <a:r>
              <a:rPr b="1" lang="es-MX" sz="1500" spc="-1" strike="noStrike">
                <a:solidFill>
                  <a:srgbClr val="ff0000"/>
                </a:solidFill>
                <a:latin typeface="Arial"/>
                <a:ea typeface="Arial"/>
              </a:rPr>
              <a:t>pérdida económica directa</a:t>
            </a:r>
            <a:r>
              <a:rPr b="0" lang="es-MX" sz="1500" spc="-1" strike="noStrike">
                <a:solidFill>
                  <a:srgbClr val="000000"/>
                </a:solidFill>
                <a:latin typeface="Arial"/>
                <a:ea typeface="Arial"/>
              </a:rPr>
              <a:t>. El sistema automatizado permitirá optimizar la </a:t>
            </a:r>
            <a:r>
              <a:rPr b="1" lang="es-MX" sz="1500" spc="-1" strike="noStrike">
                <a:solidFill>
                  <a:srgbClr val="000000"/>
                </a:solidFill>
                <a:latin typeface="Arial"/>
                <a:ea typeface="Arial"/>
              </a:rPr>
              <a:t>agenda de citas</a:t>
            </a:r>
            <a:r>
              <a:rPr b="0" lang="es-MX" sz="1500" spc="-1" strike="noStrike">
                <a:solidFill>
                  <a:srgbClr val="000000"/>
                </a:solidFill>
                <a:latin typeface="Arial"/>
                <a:ea typeface="Arial"/>
              </a:rPr>
              <a:t>, maximizando la ocupación de los barberos.</a:t>
            </a:r>
            <a:br>
              <a:rPr sz="1500"/>
            </a:br>
            <a:r>
              <a:rPr b="0" lang="es-MX" sz="15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b="0" lang="es-CO" sz="1500" spc="-1" strike="noStrike">
              <a:solidFill>
                <a:srgbClr val="000000"/>
              </a:solidFill>
              <a:latin typeface="Arial"/>
            </a:endParaRPr>
          </a:p>
          <a:p>
            <a:pPr marL="457200" indent="-324000">
              <a:lnSpc>
                <a:spcPct val="115000"/>
              </a:lnSpc>
              <a:buClr>
                <a:srgbClr val="000000"/>
              </a:buClr>
              <a:buFont typeface="Arial"/>
              <a:buAutoNum type="alphaLcPeriod"/>
              <a:tabLst>
                <a:tab algn="l" pos="0"/>
              </a:tabLst>
            </a:pPr>
            <a:r>
              <a:rPr b="1" lang="es-MX" sz="1500" spc="-1" strike="noStrike">
                <a:solidFill>
                  <a:srgbClr val="0000ff"/>
                </a:solidFill>
                <a:latin typeface="Arial"/>
                <a:ea typeface="Arial"/>
              </a:rPr>
              <a:t>Fidelización y Trazabilidad del Cliente:</a:t>
            </a:r>
            <a:r>
              <a:rPr b="0" lang="es-MX" sz="1500" spc="-1" strike="noStrike">
                <a:solidFill>
                  <a:srgbClr val="000000"/>
                </a:solidFill>
                <a:latin typeface="Arial"/>
                <a:ea typeface="Arial"/>
              </a:rPr>
              <a:t> Un </a:t>
            </a:r>
            <a:r>
              <a:rPr b="1" lang="es-MX" sz="1500" spc="-1" strike="noStrike">
                <a:solidFill>
                  <a:srgbClr val="000000"/>
                </a:solidFill>
                <a:latin typeface="Arial"/>
                <a:ea typeface="Arial"/>
              </a:rPr>
              <a:t>historial centralizado de servicios y preferencias</a:t>
            </a:r>
            <a:r>
              <a:rPr b="0" lang="es-MX" sz="1500" spc="-1" strike="noStrike">
                <a:solidFill>
                  <a:srgbClr val="000000"/>
                </a:solidFill>
                <a:latin typeface="Arial"/>
                <a:ea typeface="Arial"/>
              </a:rPr>
              <a:t> permite ofrecer una atención personalizada. Este software </a:t>
            </a:r>
            <a:r>
              <a:rPr b="1" lang="es-MX" sz="1500" spc="-1" strike="noStrike">
                <a:solidFill>
                  <a:srgbClr val="ff0000"/>
                </a:solidFill>
                <a:latin typeface="Arial"/>
                <a:ea typeface="Arial"/>
              </a:rPr>
              <a:t>elimina el riesgo de pérdida de información de clientes</a:t>
            </a:r>
            <a:r>
              <a:rPr b="0" lang="es-MX" sz="1500" spc="-1" strike="noStrike">
                <a:solidFill>
                  <a:srgbClr val="000000"/>
                </a:solidFill>
                <a:latin typeface="Arial"/>
                <a:ea typeface="Arial"/>
              </a:rPr>
              <a:t> y permite generar recordatorios de citas, fortaleciendo la </a:t>
            </a:r>
            <a:r>
              <a:rPr b="1" lang="es-MX" sz="1500" spc="-1" strike="noStrike">
                <a:solidFill>
                  <a:srgbClr val="ff0000"/>
                </a:solidFill>
                <a:latin typeface="Arial"/>
                <a:ea typeface="Arial"/>
              </a:rPr>
              <a:t>satisfacción del cliente</a:t>
            </a:r>
            <a:r>
              <a:rPr b="0" lang="es-MX" sz="1500" spc="-1" strike="noStrike">
                <a:solidFill>
                  <a:srgbClr val="000000"/>
                </a:solidFill>
                <a:latin typeface="Arial"/>
                <a:ea typeface="Arial"/>
              </a:rPr>
              <a:t> y aumentando la recompra.</a:t>
            </a:r>
            <a:endParaRPr b="0" lang="es-CO" sz="1500" spc="-1" strike="noStrike">
              <a:solidFill>
                <a:srgbClr val="000000"/>
              </a:solidFill>
              <a:latin typeface="Arial"/>
            </a:endParaRPr>
          </a:p>
          <a:p>
            <a:pPr marL="457200" indent="-324000">
              <a:lnSpc>
                <a:spcPct val="115000"/>
              </a:lnSpc>
              <a:buClr>
                <a:srgbClr val="000000"/>
              </a:buClr>
              <a:buFont typeface="Arial"/>
              <a:buAutoNum type="alphaLcPeriod"/>
              <a:tabLst>
                <a:tab algn="l" pos="0"/>
              </a:tabLst>
            </a:pPr>
            <a:r>
              <a:rPr b="1" lang="es-MX" sz="1500" spc="-1" strike="noStrike">
                <a:solidFill>
                  <a:srgbClr val="0000ff"/>
                </a:solidFill>
                <a:latin typeface="Arial"/>
                <a:ea typeface="Arial"/>
              </a:rPr>
              <a:t>Control Financiero y de Inventario:</a:t>
            </a:r>
            <a:r>
              <a:rPr b="0" lang="es-MX" sz="1500" spc="-1" strike="noStrike">
                <a:solidFill>
                  <a:srgbClr val="000000"/>
                </a:solidFill>
                <a:latin typeface="Arial"/>
                <a:ea typeface="Arial"/>
              </a:rPr>
              <a:t> Al registrar cada venta y su método de pago junto con los productos usados, se minimiza el riesgo de errores de caja, lo cual es una </a:t>
            </a:r>
            <a:r>
              <a:rPr b="1" lang="es-MX" sz="1500" spc="-1" strike="noStrike">
                <a:solidFill>
                  <a:srgbClr val="ff0000"/>
                </a:solidFill>
                <a:latin typeface="Arial"/>
                <a:ea typeface="Arial"/>
              </a:rPr>
              <a:t>prioridad para la salud financiera del negocio</a:t>
            </a:r>
            <a:r>
              <a:rPr b="0" lang="es-MX" sz="1500" spc="-1" strike="noStrike">
                <a:solidFill>
                  <a:srgbClr val="000000"/>
                </a:solidFill>
                <a:latin typeface="Arial"/>
                <a:ea typeface="Arial"/>
              </a:rPr>
              <a:t>. Al conocer con precisión las existencias disponibles mediante las reglas de negocio, se </a:t>
            </a:r>
            <a:r>
              <a:rPr b="1" lang="es-MX" sz="1500" spc="-1" strike="noStrike">
                <a:solidFill>
                  <a:srgbClr val="ff0000"/>
                </a:solidFill>
                <a:latin typeface="Arial"/>
                <a:ea typeface="Arial"/>
              </a:rPr>
              <a:t>minimiza el riesgo de desabastecimiento</a:t>
            </a:r>
            <a:r>
              <a:rPr b="0" lang="es-MX" sz="1500" spc="-1" strike="noStrike">
                <a:solidFill>
                  <a:srgbClr val="000000"/>
                </a:solidFill>
                <a:latin typeface="Arial"/>
                <a:ea typeface="Arial"/>
              </a:rPr>
              <a:t> de productos evitables.</a:t>
            </a:r>
            <a:br>
              <a:rPr sz="1500"/>
            </a:br>
            <a:r>
              <a:rPr b="0" lang="es-MX" sz="15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b="0" lang="es-CO" sz="1500" spc="-1" strike="noStrike">
              <a:solidFill>
                <a:srgbClr val="000000"/>
              </a:solidFill>
              <a:latin typeface="Arial"/>
            </a:endParaRPr>
          </a:p>
          <a:p>
            <a:pPr marL="457200" indent="-324000" algn="just">
              <a:lnSpc>
                <a:spcPct val="100000"/>
              </a:lnSpc>
              <a:buClr>
                <a:srgbClr val="000000"/>
              </a:buClr>
              <a:buFont typeface="Arial"/>
              <a:buAutoNum type="alphaLcPeriod"/>
              <a:tabLst>
                <a:tab algn="l" pos="0"/>
              </a:tabLst>
            </a:pPr>
            <a:r>
              <a:rPr b="1" lang="es-MX" sz="1500" spc="-1" strike="noStrike">
                <a:solidFill>
                  <a:srgbClr val="0000ff"/>
                </a:solidFill>
                <a:latin typeface="Arial"/>
                <a:ea typeface="Arial"/>
              </a:rPr>
              <a:t>El Control de Ventas en Tiempo Real:</a:t>
            </a:r>
            <a:r>
              <a:rPr b="0" lang="es-MX" sz="1500" spc="-1" strike="noStrike">
                <a:solidFill>
                  <a:schemeClr val="dk1"/>
                </a:solidFill>
                <a:latin typeface="Arial"/>
                <a:ea typeface="Arial"/>
              </a:rPr>
              <a:t> </a:t>
            </a:r>
            <a:r>
              <a:rPr b="0" lang="es-MX" sz="1500" spc="-1" strike="noStrike">
                <a:solidFill>
                  <a:srgbClr val="0c0c0c"/>
                </a:solidFill>
                <a:latin typeface="Arial"/>
                <a:ea typeface="Arial"/>
              </a:rPr>
              <a:t>permitirá gestionar mejor los ingresos, conocer el desempeño de cada barbero y tomar decisiones oportunas, </a:t>
            </a:r>
            <a:r>
              <a:rPr b="1" lang="es-MX" sz="1500" spc="-1" strike="noStrike">
                <a:solidFill>
                  <a:srgbClr val="ff0000"/>
                </a:solidFill>
                <a:latin typeface="Arial"/>
                <a:ea typeface="Arial"/>
              </a:rPr>
              <a:t>evitando pérdidas, sobrecostos y desabastecimientos.</a:t>
            </a:r>
            <a:endParaRPr b="0" lang="es-CO" sz="15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3" name="Google Shape;138;p7" descr=""/>
          <p:cNvPicPr/>
          <p:nvPr/>
        </p:nvPicPr>
        <p:blipFill>
          <a:blip r:embed="rId1"/>
          <a:srcRect l="3400" t="6772" r="2863" b="3472"/>
          <a:stretch/>
        </p:blipFill>
        <p:spPr>
          <a:xfrm>
            <a:off x="7920000" y="279000"/>
            <a:ext cx="1397160" cy="968760"/>
          </a:xfrm>
          <a:prstGeom prst="rect">
            <a:avLst/>
          </a:prstGeom>
          <a:ln w="0">
            <a:noFill/>
          </a:ln>
        </p:spPr>
      </p:pic>
      <p:pic>
        <p:nvPicPr>
          <p:cNvPr id="94" name="Google Shape;139;p7" descr=""/>
          <p:cNvPicPr/>
          <p:nvPr/>
        </p:nvPicPr>
        <p:blipFill>
          <a:blip r:embed="rId2"/>
          <a:srcRect l="2706" t="0" r="2206" b="0"/>
          <a:stretch/>
        </p:blipFill>
        <p:spPr>
          <a:xfrm>
            <a:off x="9540000" y="185400"/>
            <a:ext cx="1203480" cy="1074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456120" y="110520"/>
            <a:ext cx="648756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MX" sz="6000" spc="-1" strike="noStrike">
                <a:solidFill>
                  <a:schemeClr val="lt1"/>
                </a:solidFill>
                <a:latin typeface="Work Sans Medium"/>
                <a:ea typeface="Work Sans Medium"/>
              </a:rPr>
              <a:t>Alc</a:t>
            </a:r>
            <a:r>
              <a:rPr b="0" lang="es-MX" sz="6000" spc="-1" strike="noStrike">
                <a:solidFill>
                  <a:schemeClr val="lt1"/>
                </a:solidFill>
                <a:latin typeface="Work Sans Medium"/>
                <a:ea typeface="Work Sans Medium"/>
              </a:rPr>
              <a:t>anc</a:t>
            </a:r>
            <a:r>
              <a:rPr b="0" lang="es-MX" sz="6000" spc="-1" strike="noStrike">
                <a:solidFill>
                  <a:schemeClr val="lt1"/>
                </a:solidFill>
                <a:latin typeface="Work Sans Medium"/>
                <a:ea typeface="Work Sans Medium"/>
              </a:rPr>
              <a:t>e</a:t>
            </a:r>
            <a:endParaRPr b="0" lang="es-CO" sz="6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6" name="Google Shape;145;p9" descr=""/>
          <p:cNvPicPr/>
          <p:nvPr/>
        </p:nvPicPr>
        <p:blipFill>
          <a:blip r:embed="rId1"/>
          <a:srcRect l="3400" t="6772" r="2863" b="3472"/>
          <a:stretch/>
        </p:blipFill>
        <p:spPr>
          <a:xfrm>
            <a:off x="8100000" y="279000"/>
            <a:ext cx="1321920" cy="968760"/>
          </a:xfrm>
          <a:prstGeom prst="rect">
            <a:avLst/>
          </a:prstGeom>
          <a:ln w="0">
            <a:noFill/>
          </a:ln>
        </p:spPr>
      </p:pic>
      <p:pic>
        <p:nvPicPr>
          <p:cNvPr id="97" name="Google Shape;146;p9" descr=""/>
          <p:cNvPicPr/>
          <p:nvPr/>
        </p:nvPicPr>
        <p:blipFill>
          <a:blip r:embed="rId2"/>
          <a:srcRect l="2706" t="0" r="2206" b="0"/>
          <a:stretch/>
        </p:blipFill>
        <p:spPr>
          <a:xfrm>
            <a:off x="9527760" y="185400"/>
            <a:ext cx="1384920" cy="1155600"/>
          </a:xfrm>
          <a:prstGeom prst="rect">
            <a:avLst/>
          </a:prstGeom>
          <a:ln w="0">
            <a:noFill/>
          </a:ln>
        </p:spPr>
      </p:pic>
      <p:sp>
        <p:nvSpPr>
          <p:cNvPr id="98" name="Google Shape;148;p9"/>
          <p:cNvSpPr/>
          <p:nvPr/>
        </p:nvSpPr>
        <p:spPr>
          <a:xfrm>
            <a:off x="1010520" y="2648520"/>
            <a:ext cx="7144560" cy="170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15000"/>
              </a:lnSpc>
              <a:spcBef>
                <a:spcPts val="1199"/>
              </a:spcBef>
              <a:tabLst>
                <a:tab algn="l" pos="0"/>
              </a:tabLst>
            </a:pPr>
            <a:r>
              <a:rPr b="1" lang="es-MX" sz="1600" spc="-1" strike="noStrike">
                <a:solidFill>
                  <a:srgbClr val="000000"/>
                </a:solidFill>
                <a:latin typeface="Arial"/>
                <a:ea typeface="Arial"/>
              </a:rPr>
              <a:t>Centralizar, automatizar y asegurar</a:t>
            </a:r>
            <a:r>
              <a:rPr b="0" lang="es-MX" sz="1600" spc="-1" strike="noStrike">
                <a:solidFill>
                  <a:srgbClr val="000000"/>
                </a:solidFill>
                <a:latin typeface="Arial"/>
                <a:ea typeface="Arial"/>
              </a:rPr>
              <a:t> la gestión de clientes, citas, barberos, servicios, productos y ventas de la Barbería Vikingos Master mediante un sistema integrado de información.</a:t>
            </a:r>
            <a:endParaRPr b="0" lang="es-CO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spcBef>
                <a:spcPts val="1199"/>
              </a:spcBef>
              <a:tabLst>
                <a:tab algn="l" pos="0"/>
              </a:tabLst>
            </a:pPr>
            <a:endParaRPr b="0" lang="es-CO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tabLst>
                <a:tab algn="l" pos="0"/>
              </a:tabLst>
            </a:pPr>
            <a:endParaRPr b="0" lang="es-CO" sz="11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99" name="Google Shape;149;p9"/>
          <p:cNvGraphicFramePr/>
          <p:nvPr/>
        </p:nvGraphicFramePr>
        <p:xfrm>
          <a:off x="412560" y="3809880"/>
          <a:ext cx="9342360" cy="2885040"/>
        </p:xfrm>
        <a:graphic>
          <a:graphicData uri="http://schemas.openxmlformats.org/drawingml/2006/table">
            <a:tbl>
              <a:tblPr/>
              <a:tblGrid>
                <a:gridCol w="1001160"/>
                <a:gridCol w="2333160"/>
                <a:gridCol w="3004200"/>
                <a:gridCol w="3004200"/>
              </a:tblGrid>
              <a:tr h="282600">
                <a:tc>
                  <a:txBody>
                    <a:bodyPr lIns="75960" rIns="75960" anchor="t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s-MX" sz="1000" spc="-1" strike="noStrike">
                          <a:solidFill>
                            <a:srgbClr val="ffffff"/>
                          </a:solidFill>
                          <a:latin typeface="Roboto"/>
                          <a:ea typeface="Roboto"/>
                        </a:rPr>
                        <a:t>No.</a:t>
                      </a:r>
                      <a:endParaRPr b="0" lang="es-CO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75960" marR="75960">
                    <a:lnL w="14400">
                      <a:solidFill>
                        <a:srgbClr val="284e3f"/>
                      </a:solidFill>
                      <a:prstDash val="solid"/>
                    </a:lnL>
                    <a:lnR w="14400">
                      <a:solidFill>
                        <a:srgbClr val="356854"/>
                      </a:solidFill>
                      <a:prstDash val="solid"/>
                    </a:lnR>
                    <a:lnT w="14400">
                      <a:solidFill>
                        <a:srgbClr val="284e3f"/>
                      </a:solidFill>
                      <a:prstDash val="solid"/>
                    </a:lnT>
                    <a:lnB w="14400">
                      <a:solidFill>
                        <a:srgbClr val="284e3f"/>
                      </a:solidFill>
                      <a:prstDash val="solid"/>
                    </a:lnB>
                    <a:solidFill>
                      <a:srgbClr val="356854"/>
                    </a:solidFill>
                  </a:tcPr>
                </a:tc>
                <a:tc>
                  <a:txBody>
                    <a:bodyPr lIns="75960" rIns="75960" anchor="t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s-MX" sz="1000" spc="-1" strike="noStrike">
                          <a:solidFill>
                            <a:srgbClr val="ffffff"/>
                          </a:solidFill>
                          <a:latin typeface="Roboto"/>
                          <a:ea typeface="Roboto"/>
                        </a:rPr>
                        <a:t>Resultado</a:t>
                      </a:r>
                      <a:endParaRPr b="0" lang="es-CO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75960" marR="75960">
                    <a:lnL w="14400">
                      <a:solidFill>
                        <a:srgbClr val="356854"/>
                      </a:solidFill>
                      <a:prstDash val="solid"/>
                    </a:lnL>
                    <a:lnR w="14400">
                      <a:solidFill>
                        <a:srgbClr val="356854"/>
                      </a:solidFill>
                      <a:prstDash val="solid"/>
                    </a:lnR>
                    <a:lnT w="14400">
                      <a:solidFill>
                        <a:srgbClr val="284e3f"/>
                      </a:solidFill>
                      <a:prstDash val="solid"/>
                    </a:lnT>
                    <a:lnB w="14400">
                      <a:solidFill>
                        <a:srgbClr val="284e3f"/>
                      </a:solidFill>
                      <a:prstDash val="solid"/>
                    </a:lnB>
                    <a:solidFill>
                      <a:srgbClr val="356854"/>
                    </a:solidFill>
                  </a:tcPr>
                </a:tc>
                <a:tc>
                  <a:txBody>
                    <a:bodyPr lIns="75960" rIns="75960" anchor="t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s-MX" sz="1000" spc="-1" strike="noStrike">
                          <a:solidFill>
                            <a:srgbClr val="ffffff"/>
                          </a:solidFill>
                          <a:latin typeface="Roboto"/>
                          <a:ea typeface="Roboto"/>
                        </a:rPr>
                        <a:t>Alcance</a:t>
                      </a:r>
                      <a:endParaRPr b="0" lang="es-CO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75960" marR="75960">
                    <a:lnL w="14400">
                      <a:solidFill>
                        <a:srgbClr val="356854"/>
                      </a:solidFill>
                      <a:prstDash val="solid"/>
                    </a:lnL>
                    <a:lnR w="14400">
                      <a:solidFill>
                        <a:srgbClr val="356854"/>
                      </a:solidFill>
                      <a:prstDash val="solid"/>
                    </a:lnR>
                    <a:lnT w="14400">
                      <a:solidFill>
                        <a:srgbClr val="284e3f"/>
                      </a:solidFill>
                      <a:prstDash val="solid"/>
                    </a:lnT>
                    <a:lnB w="14400">
                      <a:solidFill>
                        <a:srgbClr val="284e3f"/>
                      </a:solidFill>
                      <a:prstDash val="solid"/>
                    </a:lnB>
                    <a:solidFill>
                      <a:srgbClr val="356854"/>
                    </a:solidFill>
                  </a:tcPr>
                </a:tc>
                <a:tc>
                  <a:txBody>
                    <a:bodyPr lIns="75960" rIns="75960" anchor="t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s-MX" sz="1000" spc="-1" strike="noStrike">
                          <a:solidFill>
                            <a:srgbClr val="ffffff"/>
                          </a:solidFill>
                          <a:latin typeface="Roboto"/>
                          <a:ea typeface="Roboto"/>
                        </a:rPr>
                        <a:t>Impacto</a:t>
                      </a:r>
                      <a:endParaRPr b="0" lang="es-CO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75960" marR="75960">
                    <a:lnL w="14400">
                      <a:solidFill>
                        <a:srgbClr val="356854"/>
                      </a:solidFill>
                      <a:prstDash val="solid"/>
                    </a:lnL>
                    <a:lnR w="14400">
                      <a:solidFill>
                        <a:srgbClr val="284e3f"/>
                      </a:solidFill>
                      <a:prstDash val="solid"/>
                    </a:lnR>
                    <a:lnT w="14400">
                      <a:solidFill>
                        <a:srgbClr val="284e3f"/>
                      </a:solidFill>
                      <a:prstDash val="solid"/>
                    </a:lnT>
                    <a:lnB w="14400">
                      <a:solidFill>
                        <a:srgbClr val="284e3f"/>
                      </a:solidFill>
                      <a:prstDash val="solid"/>
                    </a:lnB>
                    <a:solidFill>
                      <a:srgbClr val="356854"/>
                    </a:solidFill>
                  </a:tcPr>
                </a:tc>
              </a:tr>
              <a:tr h="514080">
                <a:tc>
                  <a:txBody>
                    <a:bodyPr lIns="75960" rIns="75960" anchor="t">
                      <a:noAutofit/>
                    </a:bodyPr>
                    <a:p>
                      <a:pPr algn="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s-MX" sz="1000" spc="-1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</a:rPr>
                        <a:t>1</a:t>
                      </a:r>
                      <a:endParaRPr b="0" lang="es-CO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75960" marR="75960">
                    <a:lnL w="14400">
                      <a:solidFill>
                        <a:srgbClr val="284e3f"/>
                      </a:solidFill>
                      <a:prstDash val="solid"/>
                    </a:lnL>
                    <a:lnR w="14400">
                      <a:solidFill>
                        <a:srgbClr val="ffffff"/>
                      </a:solidFill>
                      <a:prstDash val="solid"/>
                    </a:lnR>
                    <a:lnT w="14400">
                      <a:solidFill>
                        <a:srgbClr val="284e3f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5960" rIns="75960" anchor="t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s-MX" sz="1000" spc="-1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</a:rPr>
                        <a:t>Software de Gestión "Sistema Integral"</a:t>
                      </a:r>
                      <a:endParaRPr b="0" lang="es-CO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75960" marR="75960">
                    <a:lnL w="14400">
                      <a:solidFill>
                        <a:srgbClr val="ffffff"/>
                      </a:solidFill>
                      <a:prstDash val="solid"/>
                    </a:lnL>
                    <a:lnR w="14400">
                      <a:solidFill>
                        <a:srgbClr val="ffffff"/>
                      </a:solidFill>
                      <a:prstDash val="solid"/>
                    </a:lnR>
                    <a:lnT w="14400">
                      <a:solidFill>
                        <a:srgbClr val="284e3f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5960" rIns="75960" anchor="t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s-MX" sz="1000" spc="-1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</a:rPr>
                        <a:t>Automatización total de los 7 módulos (Clientes, Citas, Barberos, Servicios, Productos, Ventas, Administrador).</a:t>
                      </a:r>
                      <a:endParaRPr b="0" lang="es-CO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75960" marR="75960">
                    <a:lnL w="14400">
                      <a:solidFill>
                        <a:srgbClr val="ffffff"/>
                      </a:solidFill>
                      <a:prstDash val="solid"/>
                    </a:lnL>
                    <a:lnR w="14400">
                      <a:solidFill>
                        <a:srgbClr val="ffffff"/>
                      </a:solidFill>
                      <a:prstDash val="solid"/>
                    </a:lnR>
                    <a:lnT w="14400">
                      <a:solidFill>
                        <a:srgbClr val="284e3f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5960" rIns="75960" anchor="t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1" lang="es-MX" sz="1000" spc="-1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</a:rPr>
                        <a:t>Técnico: </a:t>
                      </a:r>
                      <a:r>
                        <a:rPr b="0" lang="es-MX" sz="1000" spc="-1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</a:rPr>
                        <a:t>Eliminación de la doble reserva de citas y errores de agenda (D1).</a:t>
                      </a:r>
                      <a:endParaRPr b="0" lang="es-CO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75960" marR="75960">
                    <a:lnL w="14400">
                      <a:solidFill>
                        <a:srgbClr val="ffffff"/>
                      </a:solidFill>
                      <a:prstDash val="solid"/>
                    </a:lnL>
                    <a:lnR w="14400">
                      <a:solidFill>
                        <a:srgbClr val="284e3f"/>
                      </a:solidFill>
                      <a:prstDash val="solid"/>
                    </a:lnR>
                    <a:lnT w="14400">
                      <a:solidFill>
                        <a:srgbClr val="284e3f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 lIns="75960" rIns="75960" anchor="t">
                      <a:noAutofit/>
                    </a:bodyPr>
                    <a:p>
                      <a:pPr algn="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s-MX" sz="1000" spc="-1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</a:rPr>
                        <a:t>2</a:t>
                      </a:r>
                      <a:endParaRPr b="0" lang="es-CO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75960" marR="75960">
                    <a:lnL w="14400">
                      <a:solidFill>
                        <a:srgbClr val="284e3f"/>
                      </a:solidFill>
                      <a:prstDash val="solid"/>
                    </a:lnL>
                    <a:lnR w="14400">
                      <a:solidFill>
                        <a:srgbClr val="f6f8f9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 lIns="75960" rIns="75960" anchor="t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s-MX" sz="1000" spc="-1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</a:rPr>
                        <a:t>Base de Datos Centralizada</a:t>
                      </a:r>
                      <a:endParaRPr b="0" lang="es-CO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75960" marR="75960">
                    <a:lnL w="14400">
                      <a:solidFill>
                        <a:srgbClr val="f6f8f9"/>
                      </a:solidFill>
                      <a:prstDash val="solid"/>
                    </a:lnL>
                    <a:lnR w="14400">
                      <a:solidFill>
                        <a:srgbClr val="f6f8f9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 lIns="75960" rIns="75960" anchor="t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s-MX" sz="1000" spc="-1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</a:rPr>
                        <a:t>Interconexión de la información de clientes, citas, servicios y ventas en tiempo real.</a:t>
                      </a:r>
                      <a:endParaRPr b="0" lang="es-CO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75960" marR="75960">
                    <a:lnL w="14400">
                      <a:solidFill>
                        <a:srgbClr val="f6f8f9"/>
                      </a:solidFill>
                      <a:prstDash val="solid"/>
                    </a:lnL>
                    <a:lnR w="14400">
                      <a:solidFill>
                        <a:srgbClr val="f6f8f9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 lIns="75960" rIns="75960" anchor="t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1" lang="es-MX" sz="1000" spc="-1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</a:rPr>
                        <a:t>Económico:</a:t>
                      </a:r>
                      <a:r>
                        <a:rPr b="0" lang="es-MX" sz="1000" spc="-1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</a:rPr>
                        <a:t> Reducción de pérdidas por citas no registradas y errores de caja.</a:t>
                      </a:r>
                      <a:endParaRPr b="0" lang="es-CO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75960" marR="75960">
                    <a:lnL w="14400">
                      <a:solidFill>
                        <a:srgbClr val="f6f8f9"/>
                      </a:solidFill>
                      <a:prstDash val="solid"/>
                    </a:lnL>
                    <a:lnR w="14400">
                      <a:solidFill>
                        <a:srgbClr val="284e3f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6f8f9"/>
                    </a:solidFill>
                  </a:tcPr>
                </a:tc>
              </a:tr>
              <a:tr h="514080">
                <a:tc>
                  <a:txBody>
                    <a:bodyPr lIns="75960" rIns="75960" anchor="t">
                      <a:noAutofit/>
                    </a:bodyPr>
                    <a:p>
                      <a:pPr algn="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s-MX" sz="1000" spc="-1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</a:rPr>
                        <a:t>3</a:t>
                      </a:r>
                      <a:endParaRPr b="0" lang="es-CO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75960" marR="75960">
                    <a:lnL w="14400">
                      <a:solidFill>
                        <a:srgbClr val="284e3f"/>
                      </a:solidFill>
                      <a:prstDash val="solid"/>
                    </a:lnL>
                    <a:lnR w="14400">
                      <a:solidFill>
                        <a:srgbClr val="ffffff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5960" rIns="75960" anchor="t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s-MX" sz="1000" spc="-1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</a:rPr>
                        <a:t>Módulo de Historial de Clientes</a:t>
                      </a:r>
                      <a:endParaRPr b="0" lang="es-CO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75960" marR="75960">
                    <a:lnL w="14400">
                      <a:solidFill>
                        <a:srgbClr val="ffffff"/>
                      </a:solidFill>
                      <a:prstDash val="solid"/>
                    </a:lnL>
                    <a:lnR w="14400">
                      <a:solidFill>
                        <a:srgbClr val="ffffff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5960" rIns="75960" anchor="t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s-MX" sz="1000" spc="-1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</a:rPr>
                        <a:t>Registro automático del historial de servicios y preferencias de cada cliente.</a:t>
                      </a:r>
                      <a:endParaRPr b="0" lang="es-CO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75960" marR="75960">
                    <a:lnL w="14400">
                      <a:solidFill>
                        <a:srgbClr val="ffffff"/>
                      </a:solidFill>
                      <a:prstDash val="solid"/>
                    </a:lnL>
                    <a:lnR w="14400">
                      <a:solidFill>
                        <a:srgbClr val="ffffff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5960" rIns="75960" anchor="t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1" lang="es-MX" sz="1000" spc="-1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</a:rPr>
                        <a:t>Social/Calidad: </a:t>
                      </a:r>
                      <a:r>
                        <a:rPr b="0" lang="es-MX" sz="1000" spc="-1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</a:rPr>
                        <a:t>Mejora en la fidelización y satisfacción del cliente.</a:t>
                      </a:r>
                      <a:endParaRPr b="0" lang="es-CO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75960" marR="75960">
                    <a:lnL w="14400">
                      <a:solidFill>
                        <a:srgbClr val="ffffff"/>
                      </a:solidFill>
                      <a:prstDash val="solid"/>
                    </a:lnL>
                    <a:lnR w="14400">
                      <a:solidFill>
                        <a:srgbClr val="284e3f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080">
                <a:tc>
                  <a:txBody>
                    <a:bodyPr lIns="75960" rIns="75960" anchor="t">
                      <a:noAutofit/>
                    </a:bodyPr>
                    <a:p>
                      <a:pPr algn="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s-MX" sz="1000" spc="-1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</a:rPr>
                        <a:t>4</a:t>
                      </a:r>
                      <a:endParaRPr b="0" lang="es-CO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75960" marR="75960">
                    <a:lnL w="14400">
                      <a:solidFill>
                        <a:srgbClr val="284e3f"/>
                      </a:solidFill>
                      <a:prstDash val="solid"/>
                    </a:lnL>
                    <a:lnR w="14400">
                      <a:solidFill>
                        <a:srgbClr val="f6f8f9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284e3f"/>
                      </a:solidFill>
                      <a:prstDash val="soli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 lIns="75960" rIns="75960" anchor="t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s-MX" sz="1000" spc="-1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</a:rPr>
                        <a:t>Dashboard de Ventas</a:t>
                      </a:r>
                      <a:endParaRPr b="0" lang="es-CO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75960" marR="75960">
                    <a:lnL w="14400">
                      <a:solidFill>
                        <a:srgbClr val="f6f8f9"/>
                      </a:solidFill>
                      <a:prstDash val="solid"/>
                    </a:lnL>
                    <a:lnR w="14400">
                      <a:solidFill>
                        <a:srgbClr val="f6f8f9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284e3f"/>
                      </a:solidFill>
                      <a:prstDash val="soli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 lIns="75960" rIns="75960" anchor="t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s-MX" sz="1000" spc="-1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</a:rPr>
                        <a:t>Visualización de ventas, citas y desempeño por barbero para la toma de decisiones.</a:t>
                      </a:r>
                      <a:endParaRPr b="0" lang="es-CO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75960" marR="75960">
                    <a:lnL w="14400">
                      <a:solidFill>
                        <a:srgbClr val="f6f8f9"/>
                      </a:solidFill>
                      <a:prstDash val="solid"/>
                    </a:lnL>
                    <a:lnR w="14400">
                      <a:solidFill>
                        <a:srgbClr val="f6f8f9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284e3f"/>
                      </a:solidFill>
                      <a:prstDash val="soli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 lIns="75960" rIns="75960" anchor="t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1" lang="es-MX" sz="1000" spc="-1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</a:rPr>
                        <a:t>Económico:</a:t>
                      </a:r>
                      <a:r>
                        <a:rPr b="0" lang="es-MX" sz="1000" spc="-1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</a:rPr>
                        <a:t> Optimización de los ingresos y el control de inventario.</a:t>
                      </a:r>
                      <a:endParaRPr b="0" lang="es-CO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75960" marR="75960">
                    <a:lnL w="14400">
                      <a:solidFill>
                        <a:srgbClr val="f6f8f9"/>
                      </a:solidFill>
                      <a:prstDash val="solid"/>
                    </a:lnL>
                    <a:lnR w="14400">
                      <a:solidFill>
                        <a:srgbClr val="284e3f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284e3f"/>
                      </a:solidFill>
                      <a:prstDash val="solid"/>
                    </a:lnB>
                    <a:solidFill>
                      <a:srgbClr val="f6f8f9"/>
                    </a:solidFill>
                  </a:tcPr>
                </a:tc>
              </a:tr>
              <a:tr h="514080">
                <a:tc>
                  <a:txBody>
                    <a:bodyPr lIns="75960" rIns="75960" anchor="t">
                      <a:noAutofit/>
                    </a:bodyPr>
                    <a:p>
                      <a:pPr algn="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s-MX" sz="1000" spc="-1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</a:rPr>
                        <a:t>5</a:t>
                      </a:r>
                      <a:endParaRPr b="0" lang="es-CO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75960" marR="75960">
                    <a:lnL w="14400">
                      <a:solidFill>
                        <a:srgbClr val="284e3f"/>
                      </a:solidFill>
                      <a:prstDash val="solid"/>
                    </a:lnL>
                    <a:lnR w="14400">
                      <a:solidFill>
                        <a:srgbClr val="f6f8f9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284e3f"/>
                      </a:solidFill>
                      <a:prstDash val="soli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 lIns="75960" rIns="75960" anchor="t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s-MX" sz="1000" spc="-1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</a:rPr>
                        <a:t>Módulo de Productos</a:t>
                      </a:r>
                      <a:endParaRPr b="0" lang="es-CO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75960" marR="75960">
                    <a:lnL w="14400">
                      <a:solidFill>
                        <a:srgbClr val="f6f8f9"/>
                      </a:solidFill>
                      <a:prstDash val="solid"/>
                    </a:lnL>
                    <a:lnR w="14400">
                      <a:solidFill>
                        <a:srgbClr val="f6f8f9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284e3f"/>
                      </a:solidFill>
                      <a:prstDash val="soli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 lIns="75960" rIns="75960" anchor="t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s-MX" sz="1000" spc="-1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</a:rPr>
                        <a:t>Catálogo y control de stock de productos que vende la barbería al cliente.</a:t>
                      </a:r>
                      <a:endParaRPr b="0" lang="es-CO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75960" marR="75960">
                    <a:lnL w="14400">
                      <a:solidFill>
                        <a:srgbClr val="f6f8f9"/>
                      </a:solidFill>
                      <a:prstDash val="solid"/>
                    </a:lnL>
                    <a:lnR w="14400">
                      <a:solidFill>
                        <a:srgbClr val="f6f8f9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284e3f"/>
                      </a:solidFill>
                      <a:prstDash val="soli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 lIns="75960" rIns="75960" anchor="t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1" lang="es-MX" sz="1000" spc="-1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</a:rPr>
                        <a:t>Técnico:</a:t>
                      </a:r>
                      <a:r>
                        <a:rPr b="0" lang="es-MX" sz="1000" spc="-1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</a:rPr>
                        <a:t> Evita vender sin stock disponible (D3).</a:t>
                      </a:r>
                      <a:endParaRPr b="0" lang="es-CO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75960" marR="75960">
                    <a:lnL w="14400">
                      <a:solidFill>
                        <a:srgbClr val="f6f8f9"/>
                      </a:solidFill>
                      <a:prstDash val="solid"/>
                    </a:lnL>
                    <a:lnR w="14400">
                      <a:solidFill>
                        <a:srgbClr val="284e3f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284e3f"/>
                      </a:solidFill>
                      <a:prstDash val="solid"/>
                    </a:lnB>
                    <a:solidFill>
                      <a:srgbClr val="f6f8f9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394920" y="100800"/>
            <a:ext cx="795348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MX" sz="4000" spc="-1" strike="noStrike">
                <a:solidFill>
                  <a:schemeClr val="lt1"/>
                </a:solidFill>
                <a:latin typeface="Work Sans Medium"/>
                <a:ea typeface="Work Sans Medium"/>
              </a:rPr>
              <a:t>Módu</a:t>
            </a:r>
            <a:r>
              <a:rPr b="0" lang="es-MX" sz="4000" spc="-1" strike="noStrike">
                <a:solidFill>
                  <a:schemeClr val="lt1"/>
                </a:solidFill>
                <a:latin typeface="Work Sans Medium"/>
                <a:ea typeface="Work Sans Medium"/>
              </a:rPr>
              <a:t>lo de </a:t>
            </a:r>
            <a:r>
              <a:rPr b="0" lang="es-MX" sz="4000" spc="-1" strike="noStrike">
                <a:solidFill>
                  <a:schemeClr val="lt1"/>
                </a:solidFill>
                <a:latin typeface="Work Sans Medium"/>
                <a:ea typeface="Work Sans Medium"/>
              </a:rPr>
              <a:t>Produ</a:t>
            </a:r>
            <a:r>
              <a:rPr b="0" lang="es-MX" sz="4000" spc="-1" strike="noStrike">
                <a:solidFill>
                  <a:schemeClr val="lt1"/>
                </a:solidFill>
                <a:latin typeface="Work Sans Medium"/>
                <a:ea typeface="Work Sans Medium"/>
              </a:rPr>
              <a:t>ctos</a:t>
            </a:r>
            <a:endParaRPr b="0" lang="es-CO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Google Shape;117;p5"/>
          <p:cNvSpPr/>
          <p:nvPr/>
        </p:nvSpPr>
        <p:spPr>
          <a:xfrm>
            <a:off x="180000" y="1620000"/>
            <a:ext cx="4955040" cy="445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15000"/>
              </a:lnSpc>
              <a:spcBef>
                <a:spcPts val="1400"/>
              </a:spcBef>
              <a:tabLst>
                <a:tab algn="l" pos="0"/>
              </a:tabLst>
            </a:pPr>
            <a:r>
              <a:rPr b="0" lang="es-MX" sz="1900" spc="-1" strike="noStrike">
                <a:solidFill>
                  <a:srgbClr val="ff0000"/>
                </a:solidFill>
                <a:latin typeface="Arial"/>
                <a:ea typeface="Arial"/>
              </a:rPr>
              <a:t>Catálogo de Productos</a:t>
            </a:r>
            <a:endParaRPr b="0" lang="es-CO" sz="1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spcBef>
                <a:spcPts val="1199"/>
              </a:spcBef>
              <a:tabLst>
                <a:tab algn="l" pos="0"/>
              </a:tabLst>
            </a:pPr>
            <a:r>
              <a:rPr b="0" lang="es-MX" sz="950" spc="-1" strike="noStrike">
                <a:solidFill>
                  <a:srgbClr val="000000"/>
                </a:solidFill>
                <a:latin typeface="Arial"/>
                <a:ea typeface="Arial"/>
              </a:rPr>
              <a:t>Se incorpora un séptimo módulo dedicado a los </a:t>
            </a:r>
            <a:r>
              <a:rPr b="1" lang="es-MX" sz="950" spc="-1" strike="noStrike">
                <a:solidFill>
                  <a:srgbClr val="000000"/>
                </a:solidFill>
                <a:latin typeface="Arial"/>
                <a:ea typeface="Arial"/>
              </a:rPr>
              <a:t>productos físicos que Vikingos Master vende directamente al cliente </a:t>
            </a:r>
            <a:r>
              <a:rPr b="0" lang="es-MX" sz="950" spc="-1" strike="noStrike">
                <a:solidFill>
                  <a:srgbClr val="000000"/>
                </a:solidFill>
                <a:latin typeface="Arial"/>
                <a:ea typeface="Arial"/>
              </a:rPr>
              <a:t>(ceras, pomadas, shampoos, etc.), permitiendo al administrador </a:t>
            </a:r>
            <a:r>
              <a:rPr b="1" lang="es-MX" sz="950" spc="-1" strike="noStrike">
                <a:solidFill>
                  <a:srgbClr val="000000"/>
                </a:solidFill>
                <a:latin typeface="Arial"/>
                <a:ea typeface="Arial"/>
              </a:rPr>
              <a:t>registrar, consultar, editar y desactivar </a:t>
            </a:r>
            <a:r>
              <a:rPr b="0" lang="es-MX" sz="950" spc="-1" strike="noStrike">
                <a:solidFill>
                  <a:srgbClr val="000000"/>
                </a:solidFill>
                <a:latin typeface="Arial"/>
                <a:ea typeface="Arial"/>
              </a:rPr>
              <a:t>cada producto del catálogo.</a:t>
            </a:r>
            <a:endParaRPr b="0" lang="es-CO" sz="9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199"/>
              </a:spcBef>
              <a:tabLst>
                <a:tab algn="l" pos="0"/>
              </a:tabLst>
            </a:pPr>
            <a:r>
              <a:rPr b="0" lang="es-MX" sz="1300" spc="-1" strike="noStrike">
                <a:solidFill>
                  <a:schemeClr val="dk1"/>
                </a:solidFill>
                <a:latin typeface="Work Sans Light"/>
                <a:ea typeface="Work Sans Light"/>
              </a:rPr>
              <a:t>Catálogo de referencia para el prototipo: </a:t>
            </a:r>
            <a:r>
              <a:rPr b="0" lang="es-MX" sz="1300" spc="-1" strike="noStrike">
                <a:solidFill>
                  <a:srgbClr val="0000ff"/>
                </a:solidFill>
                <a:latin typeface="Work Sans"/>
                <a:ea typeface="Work Sans"/>
              </a:rPr>
              <a:t>Cera para cabello ($18.000), Pomada mate ($22.000), Pomada brillante ($24.000), Polvo texturizador ($28.000), Aceite para barba ($20.000), Bálsamo para barba ($25.000), Shampoo masculino ($18.000), Shampoo anticaspa ($22.000), Gel fijador ($15.000) y Spray fijador ($20.000).</a:t>
            </a:r>
            <a:endParaRPr b="0" lang="es-CO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spcBef>
                <a:spcPts val="1400"/>
              </a:spcBef>
              <a:tabLst>
                <a:tab algn="l" pos="0"/>
              </a:tabLst>
            </a:pPr>
            <a:r>
              <a:rPr b="1" lang="es-MX" sz="1200" spc="-1" strike="noStrike">
                <a:solidFill>
                  <a:srgbClr val="000000"/>
                </a:solidFill>
                <a:latin typeface="Arial"/>
                <a:ea typeface="Arial"/>
              </a:rPr>
              <a:t>Operaciones del módulo (CRUD)</a:t>
            </a:r>
            <a:endParaRPr b="0" lang="es-CO" sz="12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1" lang="es-MX" sz="950" spc="-1" strike="noStrike">
                <a:solidFill>
                  <a:srgbClr val="000000"/>
                </a:solidFill>
                <a:latin typeface="Arial"/>
                <a:ea typeface="Arial"/>
              </a:rPr>
              <a:t>Registrar (Create):</a:t>
            </a:r>
            <a:r>
              <a:rPr b="0" lang="es-MX" sz="95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r>
              <a:rPr b="1" lang="es-MX" sz="950" spc="-1" strike="noStrike">
                <a:solidFill>
                  <a:srgbClr val="ff0000"/>
                </a:solidFill>
                <a:latin typeface="Arial"/>
                <a:ea typeface="Arial"/>
              </a:rPr>
              <a:t>Nombre, categoría, precio de venta, precio de compra, stock, stock mínimo, proveedor y estado</a:t>
            </a:r>
            <a:r>
              <a:rPr b="0" lang="es-MX" sz="950" spc="-1" strike="noStrike">
                <a:solidFill>
                  <a:srgbClr val="000000"/>
                </a:solidFill>
                <a:latin typeface="Arial"/>
                <a:ea typeface="Arial"/>
              </a:rPr>
              <a:t>. Ej.: Cera para cabello, $18.000, 12 unidades, Disponible.</a:t>
            </a:r>
            <a:endParaRPr b="0" lang="es-CO" sz="95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1" lang="es-MX" sz="950" spc="-1" strike="noStrike">
                <a:solidFill>
                  <a:srgbClr val="000000"/>
                </a:solidFill>
                <a:latin typeface="Arial"/>
                <a:ea typeface="Arial"/>
              </a:rPr>
              <a:t>Consultar (Read):</a:t>
            </a:r>
            <a:r>
              <a:rPr b="0" lang="es-MX" sz="95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r>
              <a:rPr b="1" lang="es-MX" sz="950" spc="-1" strike="noStrike">
                <a:solidFill>
                  <a:srgbClr val="ff0000"/>
                </a:solidFill>
                <a:latin typeface="Arial"/>
                <a:ea typeface="Arial"/>
              </a:rPr>
              <a:t>Listado de productos con precio, unidades disponibles y estado</a:t>
            </a:r>
            <a:r>
              <a:rPr b="0" lang="es-MX" sz="950" spc="-1" strike="noStrike">
                <a:solidFill>
                  <a:srgbClr val="000000"/>
                </a:solidFill>
                <a:latin typeface="Arial"/>
                <a:ea typeface="Arial"/>
              </a:rPr>
              <a:t>. Ej.: Aceite para barba </a:t>
            </a:r>
            <a:r>
              <a:rPr b="1" lang="es-MX" sz="950" spc="-1" strike="noStrike">
                <a:solidFill>
                  <a:srgbClr val="000000"/>
                </a:solidFill>
                <a:latin typeface="Arial"/>
                <a:ea typeface="Arial"/>
              </a:rPr>
              <a:t>2 unidades — Stock bajo</a:t>
            </a:r>
            <a:r>
              <a:rPr b="0" lang="es-MX" sz="950" spc="-1" strike="noStrike">
                <a:solidFill>
                  <a:srgbClr val="000000"/>
                </a:solidFill>
                <a:latin typeface="Arial"/>
                <a:ea typeface="Arial"/>
              </a:rPr>
              <a:t>.</a:t>
            </a:r>
            <a:endParaRPr b="0" lang="es-CO" sz="95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1" lang="es-CO" sz="950" spc="-1" strike="noStrike">
                <a:solidFill>
                  <a:srgbClr val="000000"/>
                </a:solidFill>
                <a:latin typeface="Arial"/>
                <a:ea typeface="Arial"/>
              </a:rPr>
              <a:t>Editar y Desactivar (Update/Delete):</a:t>
            </a:r>
            <a:r>
              <a:rPr b="0" lang="es-CO" sz="95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r>
              <a:rPr b="1" lang="es-CO" sz="950" spc="-1" strike="noStrike">
                <a:solidFill>
                  <a:srgbClr val="ff0000"/>
                </a:solidFill>
                <a:latin typeface="Arial"/>
                <a:ea typeface="Arial"/>
              </a:rPr>
              <a:t>Modificar precio, stock o proveedor sin crear un nuevo registro; y cambiar el estado a "Inactivo" si se deja de vender, sin borrar su historial (borrado lógico)</a:t>
            </a:r>
            <a:r>
              <a:rPr b="0" lang="es-CO" sz="950" spc="-1" strike="noStrike">
                <a:solidFill>
                  <a:srgbClr val="000000"/>
                </a:solidFill>
                <a:latin typeface="Arial"/>
                <a:ea typeface="Arial"/>
              </a:rPr>
              <a:t>. Ej.: subir el precio de la cera de $18.000 a $20.000, o desactivar una pomada descontinuada.</a:t>
            </a:r>
            <a:endParaRPr b="0" lang="es-CO" sz="9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2" name="Google Shape;118;p5" descr=""/>
          <p:cNvPicPr/>
          <p:nvPr/>
        </p:nvPicPr>
        <p:blipFill>
          <a:blip r:embed="rId1"/>
          <a:srcRect l="3400" t="6772" r="2863" b="3472"/>
          <a:stretch/>
        </p:blipFill>
        <p:spPr>
          <a:xfrm>
            <a:off x="7740000" y="279000"/>
            <a:ext cx="1397160" cy="968760"/>
          </a:xfrm>
          <a:prstGeom prst="rect">
            <a:avLst/>
          </a:prstGeom>
          <a:ln w="0">
            <a:noFill/>
          </a:ln>
        </p:spPr>
      </p:pic>
      <p:pic>
        <p:nvPicPr>
          <p:cNvPr id="103" name="Google Shape;119;p5" descr=""/>
          <p:cNvPicPr/>
          <p:nvPr/>
        </p:nvPicPr>
        <p:blipFill>
          <a:blip r:embed="rId2"/>
          <a:srcRect l="2706" t="0" r="2206" b="0"/>
          <a:stretch/>
        </p:blipFill>
        <p:spPr>
          <a:xfrm>
            <a:off x="9419040" y="185400"/>
            <a:ext cx="1324440" cy="1155600"/>
          </a:xfrm>
          <a:prstGeom prst="rect">
            <a:avLst/>
          </a:prstGeom>
          <a:ln w="0">
            <a:noFill/>
          </a:ln>
        </p:spPr>
      </p:pic>
      <p:pic>
        <p:nvPicPr>
          <p:cNvPr id="104" name="" descr=""/>
          <p:cNvPicPr/>
          <p:nvPr/>
        </p:nvPicPr>
        <p:blipFill>
          <a:blip r:embed="rId3"/>
          <a:stretch/>
        </p:blipFill>
        <p:spPr>
          <a:xfrm>
            <a:off x="7560000" y="1426320"/>
            <a:ext cx="4631760" cy="5417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25;p6"/>
          <p:cNvSpPr/>
          <p:nvPr/>
        </p:nvSpPr>
        <p:spPr>
          <a:xfrm>
            <a:off x="1447200" y="808920"/>
            <a:ext cx="3468240" cy="137880"/>
          </a:xfrm>
          <a:prstGeom prst="rect">
            <a:avLst/>
          </a:prstGeom>
          <a:solidFill>
            <a:srgbClr val="d8d8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s-CO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Google Shape;126;p6"/>
          <p:cNvSpPr/>
          <p:nvPr/>
        </p:nvSpPr>
        <p:spPr>
          <a:xfrm>
            <a:off x="1143360" y="310680"/>
            <a:ext cx="4076280" cy="96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90000"/>
              </a:lnSpc>
              <a:tabLst>
                <a:tab algn="l" pos="0"/>
              </a:tabLst>
            </a:pPr>
            <a:r>
              <a:rPr b="1" lang="es-MX" sz="3200" spc="-1" strike="noStrike">
                <a:solidFill>
                  <a:srgbClr val="38aa00"/>
                </a:solidFill>
                <a:latin typeface="Work Sans"/>
                <a:ea typeface="Work Sans"/>
              </a:rPr>
              <a:t>Inventario del Módulo</a:t>
            </a:r>
            <a:endParaRPr b="0" lang="es-CO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Google Shape;127;p6"/>
          <p:cNvSpPr/>
          <p:nvPr/>
        </p:nvSpPr>
        <p:spPr>
          <a:xfrm>
            <a:off x="556200" y="1287000"/>
            <a:ext cx="7445160" cy="131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65760">
              <a:lnSpc>
                <a:spcPct val="115000"/>
              </a:lnSpc>
              <a:tabLst>
                <a:tab algn="l" pos="0"/>
              </a:tabLst>
            </a:pPr>
            <a:r>
              <a:rPr b="1" lang="es-MX" sz="1400" spc="-1" strike="noStrike">
                <a:solidFill>
                  <a:srgbClr val="0000ff"/>
                </a:solidFill>
                <a:latin typeface="Arial"/>
                <a:ea typeface="Arial"/>
              </a:rPr>
              <a:t>Cada producto controla su stock en tiempo real</a:t>
            </a:r>
            <a:r>
              <a:rPr b="0" lang="es-MX" sz="1400" spc="-1" strike="noStrike">
                <a:solidFill>
                  <a:srgbClr val="000000"/>
                </a:solidFill>
                <a:latin typeface="Arial"/>
                <a:ea typeface="Arial"/>
              </a:rPr>
              <a:t> mediante cuatro variables clave: </a:t>
            </a:r>
            <a:r>
              <a:rPr b="1" lang="es-MX" sz="1400" spc="-1" strike="noStrike">
                <a:solidFill>
                  <a:srgbClr val="000000"/>
                </a:solidFill>
                <a:latin typeface="Arial"/>
                <a:ea typeface="Arial"/>
              </a:rPr>
              <a:t>Stock actual, Stock mínimo, Entradas y Salidas</a:t>
            </a:r>
            <a:r>
              <a:rPr b="0" lang="es-MX" sz="1400" spc="-1" strike="noStrike">
                <a:solidFill>
                  <a:srgbClr val="000000"/>
                </a:solidFill>
                <a:latin typeface="Arial"/>
                <a:ea typeface="Arial"/>
              </a:rPr>
              <a:t>. Ejemplo: Vikingos Master tiene 10 ceras; al venderse una, el stock baja de 10 a 9 unidades; si luego llegan 20 unidades del proveedor, el stock sube de 9 a 29 unidades.</a:t>
            </a:r>
            <a:endParaRPr b="0" lang="es-CO" sz="1400" spc="-1" strike="noStrike">
              <a:solidFill>
                <a:srgbClr val="000000"/>
              </a:solidFill>
              <a:latin typeface="Arial"/>
            </a:endParaRPr>
          </a:p>
          <a:p>
            <a:pPr marL="365760">
              <a:lnSpc>
                <a:spcPct val="100000"/>
              </a:lnSpc>
              <a:tabLst>
                <a:tab algn="l" pos="0"/>
              </a:tabLst>
            </a:pPr>
            <a:endParaRPr b="0" lang="es-CO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Google Shape;128;p6"/>
          <p:cNvSpPr/>
          <p:nvPr/>
        </p:nvSpPr>
        <p:spPr>
          <a:xfrm>
            <a:off x="1226160" y="3338640"/>
            <a:ext cx="3910320" cy="180000"/>
          </a:xfrm>
          <a:prstGeom prst="rect">
            <a:avLst/>
          </a:prstGeom>
          <a:solidFill>
            <a:srgbClr val="d8d8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s-CO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Google Shape;129;p6"/>
          <p:cNvSpPr/>
          <p:nvPr/>
        </p:nvSpPr>
        <p:spPr>
          <a:xfrm>
            <a:off x="1039320" y="2867760"/>
            <a:ext cx="5397840" cy="5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1" lang="es-MX" sz="3200" spc="-1" strike="noStrike">
                <a:solidFill>
                  <a:srgbClr val="38aa00"/>
                </a:solidFill>
                <a:latin typeface="Work Sans"/>
                <a:ea typeface="Work Sans"/>
              </a:rPr>
              <a:t>Registro de Ventas</a:t>
            </a:r>
            <a:endParaRPr b="0" lang="es-CO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Google Shape;130;p6"/>
          <p:cNvSpPr/>
          <p:nvPr/>
        </p:nvSpPr>
        <p:spPr>
          <a:xfrm>
            <a:off x="517680" y="3420000"/>
            <a:ext cx="7761960" cy="178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15000"/>
              </a:lnSpc>
              <a:spcBef>
                <a:spcPts val="1199"/>
              </a:spcBef>
              <a:tabLst>
                <a:tab algn="l" pos="0"/>
              </a:tabLst>
            </a:pPr>
            <a:r>
              <a:rPr b="0" lang="es-MX" sz="1100" spc="-1" strike="noStrike">
                <a:solidFill>
                  <a:srgbClr val="000000"/>
                </a:solidFill>
                <a:latin typeface="Arial"/>
                <a:ea typeface="Arial"/>
              </a:rPr>
              <a:t>La función "Nueva Venta" permite al administrador registrar la venta de un producto seleccionando:</a:t>
            </a:r>
            <a:endParaRPr b="0" lang="es-CO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spcBef>
                <a:spcPts val="1199"/>
              </a:spcBef>
              <a:tabLst>
                <a:tab algn="l" pos="0"/>
              </a:tabLst>
            </a:pPr>
            <a:r>
              <a:rPr b="1" lang="es-MX" sz="1100" spc="-1" strike="noStrike">
                <a:solidFill>
                  <a:srgbClr val="000000"/>
                </a:solidFill>
                <a:latin typeface="Arial"/>
                <a:ea typeface="Arial"/>
              </a:rPr>
              <a:t>Cliente:</a:t>
            </a:r>
            <a:r>
              <a:rPr b="0" lang="es-MX" sz="11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r>
              <a:rPr b="1" lang="es-MX" sz="1100" spc="-1" strike="noStrike">
                <a:solidFill>
                  <a:srgbClr val="0000ff"/>
                </a:solidFill>
                <a:latin typeface="Arial"/>
                <a:ea typeface="Arial"/>
              </a:rPr>
              <a:t>Se selecciona el cliente registrado</a:t>
            </a:r>
            <a:r>
              <a:rPr b="0" lang="es-MX" sz="1100" spc="-1" strike="noStrike">
                <a:solidFill>
                  <a:srgbClr val="000000"/>
                </a:solidFill>
                <a:latin typeface="Arial"/>
                <a:ea typeface="Arial"/>
              </a:rPr>
              <a:t> que realiza la compra. Ej.: Juan Pérez.</a:t>
            </a:r>
            <a:endParaRPr b="0" lang="es-CO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es-MX" sz="1100" spc="-1" strike="noStrike">
                <a:solidFill>
                  <a:srgbClr val="000000"/>
                </a:solidFill>
                <a:latin typeface="Arial"/>
                <a:ea typeface="Arial"/>
              </a:rPr>
              <a:t>Producto:</a:t>
            </a:r>
            <a:r>
              <a:rPr b="0" lang="es-MX" sz="11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r>
              <a:rPr b="1" lang="es-MX" sz="1100" spc="-1" strike="noStrike">
                <a:solidFill>
                  <a:srgbClr val="0000ff"/>
                </a:solidFill>
                <a:latin typeface="Arial"/>
                <a:ea typeface="Arial"/>
              </a:rPr>
              <a:t>Se elige el producto del catálogo</a:t>
            </a:r>
            <a:r>
              <a:rPr b="0" lang="es-MX" sz="1100" spc="-1" strike="noStrike">
                <a:solidFill>
                  <a:srgbClr val="000000"/>
                </a:solidFill>
                <a:latin typeface="Arial"/>
                <a:ea typeface="Arial"/>
              </a:rPr>
              <a:t> que se va a vender. Ej.: Cera para cabello.</a:t>
            </a:r>
            <a:endParaRPr b="0" lang="es-CO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es-MX" sz="1100" spc="-1" strike="noStrike">
                <a:solidFill>
                  <a:srgbClr val="000000"/>
                </a:solidFill>
                <a:latin typeface="Arial"/>
                <a:ea typeface="Arial"/>
              </a:rPr>
              <a:t>Cantidad:</a:t>
            </a:r>
            <a:r>
              <a:rPr b="0" lang="es-MX" sz="11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r>
              <a:rPr b="1" lang="es-MX" sz="1100" spc="-1" strike="noStrike">
                <a:solidFill>
                  <a:srgbClr val="0000ff"/>
                </a:solidFill>
                <a:latin typeface="Arial"/>
                <a:ea typeface="Arial"/>
              </a:rPr>
              <a:t>Se indica cuántas unidades</a:t>
            </a:r>
            <a:r>
              <a:rPr b="0" lang="es-MX" sz="1100" spc="-1" strike="noStrike">
                <a:solidFill>
                  <a:srgbClr val="000000"/>
                </a:solidFill>
                <a:latin typeface="Arial"/>
                <a:ea typeface="Arial"/>
              </a:rPr>
              <a:t> se están vendiendo. Ej.: 1 unidad.</a:t>
            </a:r>
            <a:endParaRPr b="0" lang="es-CO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es-MX" sz="1100" spc="-1" strike="noStrike">
                <a:solidFill>
                  <a:srgbClr val="000000"/>
                </a:solidFill>
                <a:latin typeface="Arial"/>
                <a:ea typeface="Arial"/>
              </a:rPr>
              <a:t>Precio:</a:t>
            </a:r>
            <a:r>
              <a:rPr b="0" lang="es-MX" sz="11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r>
              <a:rPr b="1" lang="es-MX" sz="1100" spc="-1" strike="noStrike">
                <a:solidFill>
                  <a:srgbClr val="0000ff"/>
                </a:solidFill>
                <a:latin typeface="Arial"/>
                <a:ea typeface="Arial"/>
              </a:rPr>
              <a:t>El sistema toma el precio de venta</a:t>
            </a:r>
            <a:r>
              <a:rPr b="0" lang="es-MX" sz="1100" spc="-1" strike="noStrike">
                <a:solidFill>
                  <a:srgbClr val="000000"/>
                </a:solidFill>
                <a:latin typeface="Arial"/>
                <a:ea typeface="Arial"/>
              </a:rPr>
              <a:t> registrado en el catálogo. Ej.: $18.000.</a:t>
            </a:r>
            <a:endParaRPr b="0" lang="es-CO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es-MX" sz="1100" spc="-1" strike="noStrike">
                <a:solidFill>
                  <a:srgbClr val="000000"/>
                </a:solidFill>
                <a:latin typeface="Arial"/>
                <a:ea typeface="Arial"/>
              </a:rPr>
              <a:t>Método de pago:</a:t>
            </a:r>
            <a:r>
              <a:rPr b="0" lang="es-MX" sz="11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r>
              <a:rPr b="1" lang="es-MX" sz="1100" spc="-1" strike="noStrike">
                <a:solidFill>
                  <a:srgbClr val="0000ff"/>
                </a:solidFill>
                <a:latin typeface="Arial"/>
                <a:ea typeface="Arial"/>
              </a:rPr>
              <a:t>Se registra la forma de pago</a:t>
            </a:r>
            <a:r>
              <a:rPr b="0" lang="es-MX" sz="1100" spc="-1" strike="noStrike">
                <a:solidFill>
                  <a:srgbClr val="000000"/>
                </a:solidFill>
                <a:latin typeface="Arial"/>
                <a:ea typeface="Arial"/>
              </a:rPr>
              <a:t> utilizada por el cliente (ej. Efectivo). El sistema descuenta automáticamente la unidad vendida del inventario, conectando Productos → Ventas → Inventario, y permite generar reportes como "Ventas del día: 8 productos vendidos — Total: $146.000".</a:t>
            </a:r>
            <a:endParaRPr b="0" lang="es-CO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Google Shape;131;p6"/>
          <p:cNvSpPr/>
          <p:nvPr/>
        </p:nvSpPr>
        <p:spPr>
          <a:xfrm rot="16200000">
            <a:off x="6969240" y="1635840"/>
            <a:ext cx="5163480" cy="5280840"/>
          </a:xfrm>
          <a:prstGeom prst="rtTriangle">
            <a:avLst/>
          </a:prstGeom>
          <a:solidFill>
            <a:srgbClr val="3aac00"/>
          </a:solidFill>
          <a:ln w="25400">
            <a:solidFill>
              <a:srgbClr val="3aac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s-CO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456120" y="110520"/>
            <a:ext cx="641376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MX" sz="6000" spc="-1" strike="noStrike">
                <a:solidFill>
                  <a:schemeClr val="lt1"/>
                </a:solidFill>
                <a:latin typeface="Work Sans Medium"/>
                <a:ea typeface="Work Sans Medium"/>
              </a:rPr>
              <a:t>Deli</a:t>
            </a:r>
            <a:r>
              <a:rPr b="0" lang="es-MX" sz="6000" spc="-1" strike="noStrike">
                <a:solidFill>
                  <a:schemeClr val="lt1"/>
                </a:solidFill>
                <a:latin typeface="Work Sans Medium"/>
                <a:ea typeface="Work Sans Medium"/>
              </a:rPr>
              <a:t>mit</a:t>
            </a:r>
            <a:r>
              <a:rPr b="0" lang="es-MX" sz="6000" spc="-1" strike="noStrike">
                <a:solidFill>
                  <a:schemeClr val="lt1"/>
                </a:solidFill>
                <a:latin typeface="Work Sans Medium"/>
                <a:ea typeface="Work Sans Medium"/>
              </a:rPr>
              <a:t>aci</a:t>
            </a:r>
            <a:r>
              <a:rPr b="0" lang="es-MX" sz="6000" spc="-1" strike="noStrike">
                <a:solidFill>
                  <a:schemeClr val="lt1"/>
                </a:solidFill>
                <a:latin typeface="Work Sans Medium"/>
                <a:ea typeface="Work Sans Medium"/>
              </a:rPr>
              <a:t>ón</a:t>
            </a:r>
            <a:endParaRPr b="0" lang="es-CO" sz="6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3" name="Google Shape;155;p10" descr=""/>
          <p:cNvPicPr/>
          <p:nvPr/>
        </p:nvPicPr>
        <p:blipFill>
          <a:blip r:embed="rId1"/>
          <a:srcRect l="3400" t="6772" r="2863" b="3472"/>
          <a:stretch/>
        </p:blipFill>
        <p:spPr>
          <a:xfrm>
            <a:off x="8100000" y="279000"/>
            <a:ext cx="1250640" cy="968760"/>
          </a:xfrm>
          <a:prstGeom prst="rect">
            <a:avLst/>
          </a:prstGeom>
          <a:ln w="0">
            <a:noFill/>
          </a:ln>
        </p:spPr>
      </p:pic>
      <p:pic>
        <p:nvPicPr>
          <p:cNvPr id="114" name="Google Shape;156;p10" descr=""/>
          <p:cNvPicPr/>
          <p:nvPr/>
        </p:nvPicPr>
        <p:blipFill>
          <a:blip r:embed="rId2"/>
          <a:srcRect l="2706" t="0" r="2206" b="0"/>
          <a:stretch/>
        </p:blipFill>
        <p:spPr>
          <a:xfrm>
            <a:off x="9419040" y="185400"/>
            <a:ext cx="1324440" cy="1155600"/>
          </a:xfrm>
          <a:prstGeom prst="rect">
            <a:avLst/>
          </a:prstGeom>
          <a:ln w="0">
            <a:noFill/>
          </a:ln>
        </p:spPr>
      </p:pic>
      <p:pic>
        <p:nvPicPr>
          <p:cNvPr id="115" name="Google Shape;157;p10" descr=""/>
          <p:cNvPicPr/>
          <p:nvPr/>
        </p:nvPicPr>
        <p:blipFill>
          <a:blip r:embed="rId3"/>
          <a:stretch/>
        </p:blipFill>
        <p:spPr>
          <a:xfrm>
            <a:off x="7602480" y="2608200"/>
            <a:ext cx="3105360" cy="2517840"/>
          </a:xfrm>
          <a:prstGeom prst="rect">
            <a:avLst/>
          </a:prstGeom>
          <a:ln w="0">
            <a:noFill/>
          </a:ln>
        </p:spPr>
      </p:pic>
      <p:sp>
        <p:nvSpPr>
          <p:cNvPr id="116" name="Google Shape;158;p10"/>
          <p:cNvSpPr/>
          <p:nvPr/>
        </p:nvSpPr>
        <p:spPr>
          <a:xfrm>
            <a:off x="388080" y="3240720"/>
            <a:ext cx="4125960" cy="265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MX" sz="1700" spc="-1" strike="noStrike">
                <a:solidFill>
                  <a:schemeClr val="dk2"/>
                </a:solidFill>
                <a:latin typeface="Roboto"/>
                <a:ea typeface="Roboto"/>
              </a:rPr>
              <a:t>Ver matrices del anexo 1:</a:t>
            </a:r>
            <a:endParaRPr b="0" lang="es-CO" sz="17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s-MX" sz="1700" spc="-1" strike="noStrike">
                <a:solidFill>
                  <a:schemeClr val="dk2"/>
                </a:solidFill>
                <a:latin typeface="Roboto"/>
                <a:ea typeface="Roboto"/>
              </a:rPr>
              <a:t>MASTER PROCESOS GESTIÓN VIKINGOS MASTER + REQUISITOS</a:t>
            </a:r>
            <a:endParaRPr b="0" lang="es-CO" sz="1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838080" y="0"/>
            <a:ext cx="1051488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MX" sz="3700" spc="-1" strike="noStrike">
                <a:solidFill>
                  <a:schemeClr val="lt1"/>
                </a:solidFill>
                <a:latin typeface="Merriweather"/>
                <a:ea typeface="Merriweather"/>
              </a:rPr>
              <a:t>DIAGR</a:t>
            </a:r>
            <a:r>
              <a:rPr b="0" lang="es-MX" sz="3700" spc="-1" strike="noStrike">
                <a:solidFill>
                  <a:schemeClr val="lt1"/>
                </a:solidFill>
                <a:latin typeface="Merriweather"/>
                <a:ea typeface="Merriweather"/>
              </a:rPr>
              <a:t>AMA </a:t>
            </a:r>
            <a:r>
              <a:rPr b="0" lang="es-MX" sz="3700" spc="-1" strike="noStrike">
                <a:solidFill>
                  <a:schemeClr val="lt1"/>
                </a:solidFill>
                <a:latin typeface="Merriweather"/>
                <a:ea typeface="Merriweather"/>
              </a:rPr>
              <a:t>DE </a:t>
            </a:r>
            <a:r>
              <a:rPr b="0" lang="es-MX" sz="3700" spc="-1" strike="noStrike">
                <a:solidFill>
                  <a:schemeClr val="lt1"/>
                </a:solidFill>
                <a:latin typeface="Merriweather"/>
                <a:ea typeface="Merriweather"/>
              </a:rPr>
              <a:t>GANT </a:t>
            </a:r>
            <a:r>
              <a:rPr b="0" lang="es-MX" sz="3700" spc="-1" strike="noStrike">
                <a:solidFill>
                  <a:schemeClr val="lt1"/>
                </a:solidFill>
                <a:latin typeface="Merriweather"/>
                <a:ea typeface="Merriweather"/>
              </a:rPr>
              <a:t>(</a:t>
            </a:r>
            <a:r>
              <a:rPr b="0" lang="es-MX" sz="3200" spc="-1" strike="noStrike">
                <a:solidFill>
                  <a:schemeClr val="lt1"/>
                </a:solidFill>
                <a:latin typeface="Work Sans Medium"/>
                <a:ea typeface="Work Sans Medium"/>
              </a:rPr>
              <a:t>Entreg</a:t>
            </a:r>
            <a:r>
              <a:rPr b="0" lang="es-MX" sz="3200" spc="-1" strike="noStrike">
                <a:solidFill>
                  <a:schemeClr val="lt1"/>
                </a:solidFill>
                <a:latin typeface="Work Sans Medium"/>
                <a:ea typeface="Work Sans Medium"/>
              </a:rPr>
              <a:t>ables </a:t>
            </a:r>
            <a:r>
              <a:rPr b="0" lang="es-MX" sz="3200" spc="-1" strike="noStrike">
                <a:solidFill>
                  <a:schemeClr val="lt1"/>
                </a:solidFill>
                <a:latin typeface="Work Sans Medium"/>
                <a:ea typeface="Work Sans Medium"/>
              </a:rPr>
              <a:t>Proyect</a:t>
            </a:r>
            <a:r>
              <a:rPr b="0" lang="es-MX" sz="3200" spc="-1" strike="noStrike">
                <a:solidFill>
                  <a:schemeClr val="lt1"/>
                </a:solidFill>
                <a:latin typeface="Work Sans Medium"/>
                <a:ea typeface="Work Sans Medium"/>
              </a:rPr>
              <a:t>o </a:t>
            </a:r>
            <a:r>
              <a:rPr b="0" lang="es-MX" sz="3200" spc="-1" strike="noStrike">
                <a:solidFill>
                  <a:schemeClr val="lt1"/>
                </a:solidFill>
                <a:latin typeface="Work Sans Medium"/>
                <a:ea typeface="Work Sans Medium"/>
              </a:rPr>
              <a:t>Format</a:t>
            </a:r>
            <a:r>
              <a:rPr b="0" lang="es-MX" sz="3200" spc="-1" strike="noStrike">
                <a:solidFill>
                  <a:schemeClr val="lt1"/>
                </a:solidFill>
                <a:latin typeface="Work Sans Medium"/>
                <a:ea typeface="Work Sans Medium"/>
              </a:rPr>
              <a:t>ivo por </a:t>
            </a:r>
            <a:r>
              <a:rPr b="0" lang="es-MX" sz="3200" spc="-1" strike="noStrike">
                <a:solidFill>
                  <a:schemeClr val="lt1"/>
                </a:solidFill>
                <a:latin typeface="Work Sans Medium"/>
                <a:ea typeface="Work Sans Medium"/>
              </a:rPr>
              <a:t>Trimes</a:t>
            </a:r>
            <a:r>
              <a:rPr b="0" lang="es-MX" sz="3200" spc="-1" strike="noStrike">
                <a:solidFill>
                  <a:schemeClr val="lt1"/>
                </a:solidFill>
                <a:latin typeface="Work Sans Medium"/>
                <a:ea typeface="Work Sans Medium"/>
              </a:rPr>
              <a:t>tre)</a:t>
            </a:r>
            <a:endParaRPr b="0" lang="es-CO" sz="32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18" name="Google Shape;165;g3971748a97e_0_2"/>
          <p:cNvGraphicFramePr/>
          <p:nvPr/>
        </p:nvGraphicFramePr>
        <p:xfrm>
          <a:off x="482760" y="1529280"/>
          <a:ext cx="11210400" cy="3940200"/>
        </p:xfrm>
        <a:graphic>
          <a:graphicData uri="http://schemas.openxmlformats.org/drawingml/2006/table">
            <a:tbl>
              <a:tblPr/>
              <a:tblGrid>
                <a:gridCol w="1546200"/>
                <a:gridCol w="2899440"/>
                <a:gridCol w="966240"/>
                <a:gridCol w="966240"/>
                <a:gridCol w="966240"/>
                <a:gridCol w="966240"/>
                <a:gridCol w="966240"/>
                <a:gridCol w="966240"/>
                <a:gridCol w="967680"/>
              </a:tblGrid>
              <a:tr h="156960">
                <a:tc>
                  <a:txBody>
                    <a:bodyPr lIns="75960" rIns="75960" tIns="18720" bIns="18720" anchor="ctr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s-MX" sz="600" spc="-1" strike="noStrike">
                          <a:solidFill>
                            <a:srgbClr val="ffffff"/>
                          </a:solidFill>
                          <a:latin typeface="Roboto"/>
                          <a:ea typeface="Roboto"/>
                        </a:rPr>
                        <a:t>Fase / Eje Temático</a:t>
                      </a:r>
                      <a:endParaRPr b="0" lang="es-CO" sz="600" spc="-1" strike="noStrike">
                        <a:solidFill>
                          <a:srgbClr val="ffffff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284e3f"/>
                      </a:solidFill>
                      <a:prstDash val="solid"/>
                    </a:lnL>
                    <a:lnR w="14400">
                      <a:solidFill>
                        <a:srgbClr val="356854"/>
                      </a:solidFill>
                      <a:prstDash val="solid"/>
                    </a:lnR>
                    <a:lnT w="14400">
                      <a:solidFill>
                        <a:srgbClr val="284e3f"/>
                      </a:solidFill>
                      <a:prstDash val="solid"/>
                    </a:lnT>
                    <a:lnB w="14400">
                      <a:solidFill>
                        <a:srgbClr val="284e3f"/>
                      </a:solidFill>
                      <a:prstDash val="solid"/>
                    </a:lnB>
                    <a:solidFill>
                      <a:srgbClr val="356854"/>
                    </a:solidFill>
                  </a:tcPr>
                </a:tc>
                <a:tc>
                  <a:txBody>
                    <a:bodyPr lIns="75960" rIns="75960" tIns="18720" bIns="18720" anchor="ctr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s-MX" sz="600" spc="-1" strike="noStrike">
                          <a:solidFill>
                            <a:srgbClr val="ffffff"/>
                          </a:solidFill>
                          <a:latin typeface="Roboto"/>
                          <a:ea typeface="Roboto"/>
                        </a:rPr>
                        <a:t>Documento Entregable (ADSO)</a:t>
                      </a:r>
                      <a:endParaRPr b="0" lang="es-CO" sz="600" spc="-1" strike="noStrike">
                        <a:solidFill>
                          <a:srgbClr val="ffffff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356854"/>
                      </a:solidFill>
                      <a:prstDash val="solid"/>
                    </a:lnL>
                    <a:lnR w="14400">
                      <a:solidFill>
                        <a:srgbClr val="356854"/>
                      </a:solidFill>
                      <a:prstDash val="solid"/>
                    </a:lnR>
                    <a:lnT w="14400">
                      <a:solidFill>
                        <a:srgbClr val="284e3f"/>
                      </a:solidFill>
                      <a:prstDash val="solid"/>
                    </a:lnT>
                    <a:lnB w="14400">
                      <a:solidFill>
                        <a:srgbClr val="284e3f"/>
                      </a:solidFill>
                      <a:prstDash val="solid"/>
                    </a:lnB>
                    <a:solidFill>
                      <a:srgbClr val="356854"/>
                    </a:solidFill>
                  </a:tcPr>
                </a:tc>
                <a:tc>
                  <a:txBody>
                    <a:bodyPr lIns="75960" rIns="75960" tIns="18720" bIns="18720" anchor="ctr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s-MX" sz="600" spc="-1" strike="noStrike">
                          <a:solidFill>
                            <a:srgbClr val="ffffff"/>
                          </a:solidFill>
                          <a:latin typeface="Roboto"/>
                          <a:ea typeface="Roboto"/>
                        </a:rPr>
                        <a:t>T1</a:t>
                      </a:r>
                      <a:endParaRPr b="0" lang="es-CO" sz="600" spc="-1" strike="noStrike">
                        <a:solidFill>
                          <a:srgbClr val="ffffff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356854"/>
                      </a:solidFill>
                      <a:prstDash val="solid"/>
                    </a:lnL>
                    <a:lnR w="14400">
                      <a:solidFill>
                        <a:srgbClr val="356854"/>
                      </a:solidFill>
                      <a:prstDash val="solid"/>
                    </a:lnR>
                    <a:lnT w="14400">
                      <a:solidFill>
                        <a:srgbClr val="284e3f"/>
                      </a:solidFill>
                      <a:prstDash val="solid"/>
                    </a:lnT>
                    <a:lnB w="14400">
                      <a:solidFill>
                        <a:srgbClr val="284e3f"/>
                      </a:solidFill>
                      <a:prstDash val="solid"/>
                    </a:lnB>
                    <a:solidFill>
                      <a:srgbClr val="356854"/>
                    </a:solidFill>
                  </a:tcPr>
                </a:tc>
                <a:tc>
                  <a:txBody>
                    <a:bodyPr lIns="75960" rIns="75960" tIns="18720" bIns="18720" anchor="ctr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s-MX" sz="600" spc="-1" strike="noStrike">
                          <a:solidFill>
                            <a:srgbClr val="ffffff"/>
                          </a:solidFill>
                          <a:latin typeface="Roboto"/>
                          <a:ea typeface="Roboto"/>
                        </a:rPr>
                        <a:t>T2</a:t>
                      </a:r>
                      <a:endParaRPr b="0" lang="es-CO" sz="600" spc="-1" strike="noStrike">
                        <a:solidFill>
                          <a:srgbClr val="ffffff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356854"/>
                      </a:solidFill>
                      <a:prstDash val="solid"/>
                    </a:lnL>
                    <a:lnR w="14400">
                      <a:solidFill>
                        <a:srgbClr val="356854"/>
                      </a:solidFill>
                      <a:prstDash val="solid"/>
                    </a:lnR>
                    <a:lnT w="14400">
                      <a:solidFill>
                        <a:srgbClr val="284e3f"/>
                      </a:solidFill>
                      <a:prstDash val="solid"/>
                    </a:lnT>
                    <a:lnB w="14400">
                      <a:solidFill>
                        <a:srgbClr val="284e3f"/>
                      </a:solidFill>
                      <a:prstDash val="solid"/>
                    </a:lnB>
                    <a:solidFill>
                      <a:srgbClr val="356854"/>
                    </a:solidFill>
                  </a:tcPr>
                </a:tc>
                <a:tc>
                  <a:txBody>
                    <a:bodyPr lIns="75960" rIns="75960" tIns="18720" bIns="18720" anchor="ctr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s-MX" sz="600" spc="-1" strike="noStrike">
                          <a:solidFill>
                            <a:srgbClr val="ffffff"/>
                          </a:solidFill>
                          <a:latin typeface="Roboto"/>
                          <a:ea typeface="Roboto"/>
                        </a:rPr>
                        <a:t>T3</a:t>
                      </a:r>
                      <a:endParaRPr b="0" lang="es-CO" sz="600" spc="-1" strike="noStrike">
                        <a:solidFill>
                          <a:srgbClr val="ffffff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356854"/>
                      </a:solidFill>
                      <a:prstDash val="solid"/>
                    </a:lnL>
                    <a:lnR w="14400">
                      <a:solidFill>
                        <a:srgbClr val="356854"/>
                      </a:solidFill>
                      <a:prstDash val="solid"/>
                    </a:lnR>
                    <a:lnT w="14400">
                      <a:solidFill>
                        <a:srgbClr val="284e3f"/>
                      </a:solidFill>
                      <a:prstDash val="solid"/>
                    </a:lnT>
                    <a:lnB w="14400">
                      <a:solidFill>
                        <a:srgbClr val="284e3f"/>
                      </a:solidFill>
                      <a:prstDash val="solid"/>
                    </a:lnB>
                    <a:solidFill>
                      <a:srgbClr val="356854"/>
                    </a:solidFill>
                  </a:tcPr>
                </a:tc>
                <a:tc>
                  <a:txBody>
                    <a:bodyPr lIns="75960" rIns="75960" tIns="18720" bIns="18720" anchor="ctr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s-MX" sz="600" spc="-1" strike="noStrike">
                          <a:solidFill>
                            <a:srgbClr val="ffffff"/>
                          </a:solidFill>
                          <a:latin typeface="Roboto"/>
                          <a:ea typeface="Roboto"/>
                        </a:rPr>
                        <a:t>T4</a:t>
                      </a:r>
                      <a:endParaRPr b="0" lang="es-CO" sz="600" spc="-1" strike="noStrike">
                        <a:solidFill>
                          <a:srgbClr val="ffffff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356854"/>
                      </a:solidFill>
                      <a:prstDash val="solid"/>
                    </a:lnL>
                    <a:lnR w="14400">
                      <a:solidFill>
                        <a:srgbClr val="356854"/>
                      </a:solidFill>
                      <a:prstDash val="solid"/>
                    </a:lnR>
                    <a:lnT w="14400">
                      <a:solidFill>
                        <a:srgbClr val="284e3f"/>
                      </a:solidFill>
                      <a:prstDash val="solid"/>
                    </a:lnT>
                    <a:lnB w="14400">
                      <a:solidFill>
                        <a:srgbClr val="284e3f"/>
                      </a:solidFill>
                      <a:prstDash val="solid"/>
                    </a:lnB>
                    <a:solidFill>
                      <a:srgbClr val="356854"/>
                    </a:solidFill>
                  </a:tcPr>
                </a:tc>
                <a:tc>
                  <a:txBody>
                    <a:bodyPr lIns="75960" rIns="75960" tIns="18720" bIns="18720" anchor="ctr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s-MX" sz="600" spc="-1" strike="noStrike">
                          <a:solidFill>
                            <a:srgbClr val="ffffff"/>
                          </a:solidFill>
                          <a:latin typeface="Roboto"/>
                          <a:ea typeface="Roboto"/>
                        </a:rPr>
                        <a:t>T5</a:t>
                      </a:r>
                      <a:endParaRPr b="0" lang="es-CO" sz="600" spc="-1" strike="noStrike">
                        <a:solidFill>
                          <a:srgbClr val="ffffff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356854"/>
                      </a:solidFill>
                      <a:prstDash val="solid"/>
                    </a:lnL>
                    <a:lnR w="14400">
                      <a:solidFill>
                        <a:srgbClr val="356854"/>
                      </a:solidFill>
                      <a:prstDash val="solid"/>
                    </a:lnR>
                    <a:lnT w="14400">
                      <a:solidFill>
                        <a:srgbClr val="284e3f"/>
                      </a:solidFill>
                      <a:prstDash val="solid"/>
                    </a:lnT>
                    <a:lnB w="14400">
                      <a:solidFill>
                        <a:srgbClr val="284e3f"/>
                      </a:solidFill>
                      <a:prstDash val="solid"/>
                    </a:lnB>
                    <a:solidFill>
                      <a:srgbClr val="356854"/>
                    </a:solidFill>
                  </a:tcPr>
                </a:tc>
                <a:tc>
                  <a:txBody>
                    <a:bodyPr lIns="75960" rIns="75960" tIns="18720" bIns="18720" anchor="ctr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s-MX" sz="600" spc="-1" strike="noStrike">
                          <a:solidFill>
                            <a:srgbClr val="ffffff"/>
                          </a:solidFill>
                          <a:latin typeface="Roboto"/>
                          <a:ea typeface="Roboto"/>
                        </a:rPr>
                        <a:t>T6</a:t>
                      </a:r>
                      <a:endParaRPr b="0" lang="es-CO" sz="600" spc="-1" strike="noStrike">
                        <a:solidFill>
                          <a:srgbClr val="ffffff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356854"/>
                      </a:solidFill>
                      <a:prstDash val="solid"/>
                    </a:lnL>
                    <a:lnR w="14400">
                      <a:solidFill>
                        <a:srgbClr val="356854"/>
                      </a:solidFill>
                      <a:prstDash val="solid"/>
                    </a:lnR>
                    <a:lnT w="14400">
                      <a:solidFill>
                        <a:srgbClr val="284e3f"/>
                      </a:solidFill>
                      <a:prstDash val="solid"/>
                    </a:lnT>
                    <a:lnB w="14400">
                      <a:solidFill>
                        <a:srgbClr val="284e3f"/>
                      </a:solidFill>
                      <a:prstDash val="solid"/>
                    </a:lnB>
                    <a:solidFill>
                      <a:srgbClr val="356854"/>
                    </a:solidFill>
                  </a:tcPr>
                </a:tc>
                <a:tc>
                  <a:txBody>
                    <a:bodyPr lIns="75960" rIns="75960" tIns="18720" bIns="18720" anchor="ctr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s-MX" sz="600" spc="-1" strike="noStrike">
                          <a:solidFill>
                            <a:srgbClr val="ffffff"/>
                          </a:solidFill>
                          <a:latin typeface="Roboto"/>
                          <a:ea typeface="Roboto"/>
                        </a:rPr>
                        <a:t>T7</a:t>
                      </a:r>
                      <a:endParaRPr b="0" lang="es-CO" sz="600" spc="-1" strike="noStrike">
                        <a:solidFill>
                          <a:srgbClr val="ffffff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356854"/>
                      </a:solidFill>
                      <a:prstDash val="solid"/>
                    </a:lnL>
                    <a:lnR w="14400">
                      <a:solidFill>
                        <a:srgbClr val="284e3f"/>
                      </a:solidFill>
                      <a:prstDash val="solid"/>
                    </a:lnR>
                    <a:lnT w="14400">
                      <a:solidFill>
                        <a:srgbClr val="284e3f"/>
                      </a:solidFill>
                      <a:prstDash val="solid"/>
                    </a:lnT>
                    <a:lnB w="14400">
                      <a:solidFill>
                        <a:srgbClr val="284e3f"/>
                      </a:solidFill>
                      <a:prstDash val="solid"/>
                    </a:lnB>
                    <a:solidFill>
                      <a:srgbClr val="356854"/>
                    </a:solidFill>
                  </a:tcPr>
                </a:tc>
              </a:tr>
              <a:tr h="374760">
                <a:tc>
                  <a:txBody>
                    <a:bodyPr lIns="75960" rIns="75960" tIns="18720" bIns="18720" anchor="ctr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s-MX" sz="600" spc="-1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</a:rPr>
                        <a:t>ANÁLISIS</a:t>
                      </a:r>
                      <a:endParaRPr b="0" lang="es-CO" sz="6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284e3f"/>
                      </a:solidFill>
                      <a:prstDash val="solid"/>
                    </a:lnL>
                    <a:lnR w="14400">
                      <a:solidFill>
                        <a:srgbClr val="ffffff"/>
                      </a:solidFill>
                      <a:prstDash val="solid"/>
                    </a:lnR>
                    <a:lnT w="14400">
                      <a:solidFill>
                        <a:srgbClr val="284e3f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5960" rIns="75960" tIns="18720" bIns="18720" anchor="ctr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s-MX" sz="600" spc="-1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</a:rPr>
                        <a:t>Plan de Proyecto (PL01)</a:t>
                      </a:r>
                      <a:endParaRPr b="0" lang="es-CO" sz="6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ffffff"/>
                      </a:solidFill>
                      <a:prstDash val="solid"/>
                    </a:lnL>
                    <a:lnR w="14400">
                      <a:solidFill>
                        <a:srgbClr val="ffffff"/>
                      </a:solidFill>
                      <a:prstDash val="solid"/>
                    </a:lnR>
                    <a:lnT w="14400">
                      <a:solidFill>
                        <a:srgbClr val="284e3f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5960" rIns="75960" tIns="18720" bIns="18720" anchor="ctr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s-MX" sz="600" spc="-1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</a:rPr>
                        <a:t>■</a:t>
                      </a:r>
                      <a:endParaRPr b="0" lang="es-CO" sz="6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ffffff"/>
                      </a:solidFill>
                      <a:prstDash val="solid"/>
                    </a:lnL>
                    <a:lnR w="14400">
                      <a:solidFill>
                        <a:srgbClr val="ffffff"/>
                      </a:solidFill>
                      <a:prstDash val="solid"/>
                    </a:lnR>
                    <a:lnT w="14400">
                      <a:solidFill>
                        <a:srgbClr val="284e3f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5960" rIns="75960" tIns="18720" bIns="18720" anchor="ctr">
                      <a:noAutofit/>
                    </a:bodyPr>
                    <a:p>
                      <a:endParaRPr b="0" lang="es-CO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ffffff"/>
                      </a:solidFill>
                      <a:prstDash val="solid"/>
                    </a:lnL>
                    <a:lnR w="14400">
                      <a:solidFill>
                        <a:srgbClr val="ffffff"/>
                      </a:solidFill>
                      <a:prstDash val="solid"/>
                    </a:lnR>
                    <a:lnT w="14400">
                      <a:solidFill>
                        <a:srgbClr val="284e3f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5960" rIns="75960" tIns="18720" bIns="18720" anchor="ctr">
                      <a:noAutofit/>
                    </a:bodyPr>
                    <a:p>
                      <a:endParaRPr b="0" lang="es-CO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ffffff"/>
                      </a:solidFill>
                      <a:prstDash val="solid"/>
                    </a:lnL>
                    <a:lnR w="14400">
                      <a:solidFill>
                        <a:srgbClr val="ffffff"/>
                      </a:solidFill>
                      <a:prstDash val="solid"/>
                    </a:lnR>
                    <a:lnT w="14400">
                      <a:solidFill>
                        <a:srgbClr val="284e3f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5960" rIns="75960" tIns="18720" bIns="18720" anchor="ctr">
                      <a:noAutofit/>
                    </a:bodyPr>
                    <a:p>
                      <a:endParaRPr b="0" lang="es-CO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ffffff"/>
                      </a:solidFill>
                      <a:prstDash val="solid"/>
                    </a:lnL>
                    <a:lnR w="14400">
                      <a:solidFill>
                        <a:srgbClr val="ffffff"/>
                      </a:solidFill>
                      <a:prstDash val="solid"/>
                    </a:lnR>
                    <a:lnT w="14400">
                      <a:solidFill>
                        <a:srgbClr val="284e3f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5960" rIns="75960" tIns="18720" bIns="18720" anchor="ctr">
                      <a:noAutofit/>
                    </a:bodyPr>
                    <a:p>
                      <a:endParaRPr b="0" lang="es-CO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ffffff"/>
                      </a:solidFill>
                      <a:prstDash val="solid"/>
                    </a:lnL>
                    <a:lnR w="14400">
                      <a:solidFill>
                        <a:srgbClr val="ffffff"/>
                      </a:solidFill>
                      <a:prstDash val="solid"/>
                    </a:lnR>
                    <a:lnT w="14400">
                      <a:solidFill>
                        <a:srgbClr val="284e3f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5960" rIns="75960" tIns="18720" bIns="18720" anchor="ctr">
                      <a:noAutofit/>
                    </a:bodyPr>
                    <a:p>
                      <a:endParaRPr b="0" lang="es-CO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ffffff"/>
                      </a:solidFill>
                      <a:prstDash val="solid"/>
                    </a:lnL>
                    <a:lnR w="14400">
                      <a:solidFill>
                        <a:srgbClr val="ffffff"/>
                      </a:solidFill>
                      <a:prstDash val="solid"/>
                    </a:lnR>
                    <a:lnT w="14400">
                      <a:solidFill>
                        <a:srgbClr val="284e3f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5960" rIns="75960" tIns="18720" bIns="18720" anchor="ctr">
                      <a:noAutofit/>
                    </a:bodyPr>
                    <a:p>
                      <a:endParaRPr b="0" lang="es-CO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ffffff"/>
                      </a:solidFill>
                      <a:prstDash val="solid"/>
                    </a:lnL>
                    <a:lnR w="14400">
                      <a:solidFill>
                        <a:srgbClr val="284e3f"/>
                      </a:solidFill>
                      <a:prstDash val="solid"/>
                    </a:lnR>
                    <a:lnT w="14400">
                      <a:solidFill>
                        <a:srgbClr val="284e3f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74760">
                <a:tc>
                  <a:txBody>
                    <a:bodyPr lIns="75960" rIns="75960" tIns="18720" bIns="18720" anchor="ctr">
                      <a:noAutofit/>
                    </a:bodyPr>
                    <a:p>
                      <a:endParaRPr b="0" lang="es-CO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284e3f"/>
                      </a:solidFill>
                      <a:prstDash val="solid"/>
                    </a:lnL>
                    <a:lnR w="14400">
                      <a:solidFill>
                        <a:srgbClr val="f6f8f9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 lIns="75960" rIns="75960" tIns="18720" bIns="18720" anchor="ctr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s-MX" sz="600" spc="-1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</a:rPr>
                        <a:t>Levantamiento de Información </a:t>
                      </a:r>
                      <a:r>
                        <a:rPr b="0" lang="es-MX" sz="600" spc="-1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</a:rPr>
                        <a:t>(Técnicas e Instrumentos)</a:t>
                      </a:r>
                      <a:endParaRPr b="0" lang="es-CO" sz="6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f6f8f9"/>
                      </a:solidFill>
                      <a:prstDash val="solid"/>
                    </a:lnL>
                    <a:lnR w="14400">
                      <a:solidFill>
                        <a:srgbClr val="f6f8f9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 lIns="75960" rIns="75960" tIns="18720" bIns="18720" anchor="ctr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s-MX" sz="600" spc="-1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</a:rPr>
                        <a:t>■</a:t>
                      </a:r>
                      <a:endParaRPr b="0" lang="es-CO" sz="6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f6f8f9"/>
                      </a:solidFill>
                      <a:prstDash val="solid"/>
                    </a:lnL>
                    <a:lnR w="14400">
                      <a:solidFill>
                        <a:srgbClr val="f6f8f9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 lIns="75960" rIns="75960" tIns="18720" bIns="18720" anchor="ctr">
                      <a:noAutofit/>
                    </a:bodyPr>
                    <a:p>
                      <a:endParaRPr b="0" lang="es-CO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f6f8f9"/>
                      </a:solidFill>
                      <a:prstDash val="solid"/>
                    </a:lnL>
                    <a:lnR w="14400">
                      <a:solidFill>
                        <a:srgbClr val="f6f8f9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 lIns="75960" rIns="75960" tIns="18720" bIns="18720" anchor="ctr">
                      <a:noAutofit/>
                    </a:bodyPr>
                    <a:p>
                      <a:endParaRPr b="0" lang="es-CO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f6f8f9"/>
                      </a:solidFill>
                      <a:prstDash val="solid"/>
                    </a:lnL>
                    <a:lnR w="14400">
                      <a:solidFill>
                        <a:srgbClr val="f6f8f9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 lIns="75960" rIns="75960" tIns="18720" bIns="18720" anchor="ctr">
                      <a:noAutofit/>
                    </a:bodyPr>
                    <a:p>
                      <a:endParaRPr b="0" lang="es-CO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f6f8f9"/>
                      </a:solidFill>
                      <a:prstDash val="solid"/>
                    </a:lnL>
                    <a:lnR w="14400">
                      <a:solidFill>
                        <a:srgbClr val="f6f8f9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 lIns="75960" rIns="75960" tIns="18720" bIns="18720" anchor="ctr">
                      <a:noAutofit/>
                    </a:bodyPr>
                    <a:p>
                      <a:endParaRPr b="0" lang="es-CO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f6f8f9"/>
                      </a:solidFill>
                      <a:prstDash val="solid"/>
                    </a:lnL>
                    <a:lnR w="14400">
                      <a:solidFill>
                        <a:srgbClr val="f6f8f9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 lIns="75960" rIns="75960" tIns="18720" bIns="18720" anchor="ctr">
                      <a:noAutofit/>
                    </a:bodyPr>
                    <a:p>
                      <a:endParaRPr b="0" lang="es-CO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f6f8f9"/>
                      </a:solidFill>
                      <a:prstDash val="solid"/>
                    </a:lnL>
                    <a:lnR w="14400">
                      <a:solidFill>
                        <a:srgbClr val="f6f8f9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 lIns="75960" rIns="75960" tIns="18720" bIns="18720" anchor="ctr">
                      <a:noAutofit/>
                    </a:bodyPr>
                    <a:p>
                      <a:endParaRPr b="0" lang="es-CO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f6f8f9"/>
                      </a:solidFill>
                      <a:prstDash val="solid"/>
                    </a:lnL>
                    <a:lnR w="14400">
                      <a:solidFill>
                        <a:srgbClr val="284e3f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6f8f9"/>
                    </a:solidFill>
                  </a:tcPr>
                </a:tc>
              </a:tr>
              <a:tr h="374760">
                <a:tc>
                  <a:txBody>
                    <a:bodyPr lIns="75960" rIns="75960" tIns="18720" bIns="18720" anchor="ctr">
                      <a:noAutofit/>
                    </a:bodyPr>
                    <a:p>
                      <a:endParaRPr b="0" lang="es-CO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284e3f"/>
                      </a:solidFill>
                      <a:prstDash val="solid"/>
                    </a:lnL>
                    <a:lnR w="14400">
                      <a:solidFill>
                        <a:srgbClr val="ffffff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5960" rIns="75960" tIns="18720" bIns="18720" anchor="ctr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s-MX" sz="600" spc="-1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</a:rPr>
                        <a:t>Diagrama de Procesos (Macroproceso y </a:t>
                      </a:r>
                      <a:r>
                        <a:rPr b="0" lang="es-MX" sz="600" spc="-1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</a:rPr>
                        <a:t>Subprocesos)</a:t>
                      </a:r>
                      <a:endParaRPr b="0" lang="es-CO" sz="6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ffffff"/>
                      </a:solidFill>
                      <a:prstDash val="solid"/>
                    </a:lnL>
                    <a:lnR w="14400">
                      <a:solidFill>
                        <a:srgbClr val="ffffff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5960" rIns="75960" tIns="18720" bIns="18720" anchor="ctr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s-MX" sz="600" spc="-1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</a:rPr>
                        <a:t>■</a:t>
                      </a:r>
                      <a:endParaRPr b="0" lang="es-CO" sz="6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ffffff"/>
                      </a:solidFill>
                      <a:prstDash val="solid"/>
                    </a:lnL>
                    <a:lnR w="14400">
                      <a:solidFill>
                        <a:srgbClr val="ffffff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5960" rIns="75960" tIns="18720" bIns="18720" anchor="ctr">
                      <a:noAutofit/>
                    </a:bodyPr>
                    <a:p>
                      <a:endParaRPr b="0" lang="es-CO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ffffff"/>
                      </a:solidFill>
                      <a:prstDash val="solid"/>
                    </a:lnL>
                    <a:lnR w="14400">
                      <a:solidFill>
                        <a:srgbClr val="ffffff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5960" rIns="75960" tIns="18720" bIns="18720" anchor="ctr">
                      <a:noAutofit/>
                    </a:bodyPr>
                    <a:p>
                      <a:endParaRPr b="0" lang="es-CO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ffffff"/>
                      </a:solidFill>
                      <a:prstDash val="solid"/>
                    </a:lnL>
                    <a:lnR w="14400">
                      <a:solidFill>
                        <a:srgbClr val="ffffff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5960" rIns="75960" tIns="18720" bIns="18720" anchor="ctr">
                      <a:noAutofit/>
                    </a:bodyPr>
                    <a:p>
                      <a:endParaRPr b="0" lang="es-CO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ffffff"/>
                      </a:solidFill>
                      <a:prstDash val="solid"/>
                    </a:lnL>
                    <a:lnR w="14400">
                      <a:solidFill>
                        <a:srgbClr val="ffffff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5960" rIns="75960" tIns="18720" bIns="18720" anchor="ctr">
                      <a:noAutofit/>
                    </a:bodyPr>
                    <a:p>
                      <a:endParaRPr b="0" lang="es-CO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ffffff"/>
                      </a:solidFill>
                      <a:prstDash val="solid"/>
                    </a:lnL>
                    <a:lnR w="14400">
                      <a:solidFill>
                        <a:srgbClr val="ffffff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5960" rIns="75960" tIns="18720" bIns="18720" anchor="ctr">
                      <a:noAutofit/>
                    </a:bodyPr>
                    <a:p>
                      <a:endParaRPr b="0" lang="es-CO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ffffff"/>
                      </a:solidFill>
                      <a:prstDash val="solid"/>
                    </a:lnL>
                    <a:lnR w="14400">
                      <a:solidFill>
                        <a:srgbClr val="ffffff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5960" rIns="75960" tIns="18720" bIns="18720" anchor="ctr">
                      <a:noAutofit/>
                    </a:bodyPr>
                    <a:p>
                      <a:endParaRPr b="0" lang="es-CO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ffffff"/>
                      </a:solidFill>
                      <a:prstDash val="solid"/>
                    </a:lnL>
                    <a:lnR w="14400">
                      <a:solidFill>
                        <a:srgbClr val="284e3f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74760">
                <a:tc>
                  <a:txBody>
                    <a:bodyPr lIns="75960" rIns="75960" tIns="18720" bIns="18720" anchor="ctr">
                      <a:noAutofit/>
                    </a:bodyPr>
                    <a:p>
                      <a:endParaRPr b="0" lang="es-CO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284e3f"/>
                      </a:solidFill>
                      <a:prstDash val="solid"/>
                    </a:lnL>
                    <a:lnR w="14400">
                      <a:solidFill>
                        <a:srgbClr val="f6f8f9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 lIns="75960" rIns="75960" tIns="18720" bIns="18720" anchor="ctr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s-MX" sz="600" spc="-1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</a:rPr>
                        <a:t>Especificación de Requisitos (IEEE-830 / </a:t>
                      </a:r>
                      <a:r>
                        <a:rPr b="0" lang="es-MX" sz="600" spc="-1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</a:rPr>
                        <a:t>Historias de Usuario)</a:t>
                      </a:r>
                      <a:endParaRPr b="0" lang="es-CO" sz="6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f6f8f9"/>
                      </a:solidFill>
                      <a:prstDash val="solid"/>
                    </a:lnL>
                    <a:lnR w="14400">
                      <a:solidFill>
                        <a:srgbClr val="f6f8f9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 lIns="75960" rIns="75960" tIns="18720" bIns="18720" anchor="ctr">
                      <a:noAutofit/>
                    </a:bodyPr>
                    <a:p>
                      <a:endParaRPr b="0" lang="es-CO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f6f8f9"/>
                      </a:solidFill>
                      <a:prstDash val="solid"/>
                    </a:lnL>
                    <a:lnR w="14400">
                      <a:solidFill>
                        <a:srgbClr val="f6f8f9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 lIns="75960" rIns="75960" tIns="18720" bIns="18720" anchor="ctr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s-MX" sz="600" spc="-1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</a:rPr>
                        <a:t>■</a:t>
                      </a:r>
                      <a:endParaRPr b="0" lang="es-CO" sz="6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f6f8f9"/>
                      </a:solidFill>
                      <a:prstDash val="solid"/>
                    </a:lnL>
                    <a:lnR w="14400">
                      <a:solidFill>
                        <a:srgbClr val="f6f8f9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 lIns="75960" rIns="75960" tIns="18720" bIns="18720" anchor="ctr">
                      <a:noAutofit/>
                    </a:bodyPr>
                    <a:p>
                      <a:endParaRPr b="0" lang="es-CO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f6f8f9"/>
                      </a:solidFill>
                      <a:prstDash val="solid"/>
                    </a:lnL>
                    <a:lnR w="14400">
                      <a:solidFill>
                        <a:srgbClr val="f6f8f9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 lIns="75960" rIns="75960" tIns="18720" bIns="18720" anchor="ctr">
                      <a:noAutofit/>
                    </a:bodyPr>
                    <a:p>
                      <a:endParaRPr b="0" lang="es-CO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f6f8f9"/>
                      </a:solidFill>
                      <a:prstDash val="solid"/>
                    </a:lnL>
                    <a:lnR w="14400">
                      <a:solidFill>
                        <a:srgbClr val="f6f8f9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 lIns="75960" rIns="75960" tIns="18720" bIns="18720" anchor="ctr">
                      <a:noAutofit/>
                    </a:bodyPr>
                    <a:p>
                      <a:endParaRPr b="0" lang="es-CO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f6f8f9"/>
                      </a:solidFill>
                      <a:prstDash val="solid"/>
                    </a:lnL>
                    <a:lnR w="14400">
                      <a:solidFill>
                        <a:srgbClr val="f6f8f9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 lIns="75960" rIns="75960" tIns="18720" bIns="18720" anchor="ctr">
                      <a:noAutofit/>
                    </a:bodyPr>
                    <a:p>
                      <a:endParaRPr b="0" lang="es-CO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f6f8f9"/>
                      </a:solidFill>
                      <a:prstDash val="solid"/>
                    </a:lnL>
                    <a:lnR w="14400">
                      <a:solidFill>
                        <a:srgbClr val="f6f8f9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 lIns="75960" rIns="75960" tIns="18720" bIns="18720" anchor="ctr">
                      <a:noAutofit/>
                    </a:bodyPr>
                    <a:p>
                      <a:endParaRPr b="0" lang="es-CO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f6f8f9"/>
                      </a:solidFill>
                      <a:prstDash val="solid"/>
                    </a:lnL>
                    <a:lnR w="14400">
                      <a:solidFill>
                        <a:srgbClr val="284e3f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6f8f9"/>
                    </a:solidFill>
                  </a:tcPr>
                </a:tc>
              </a:tr>
              <a:tr h="374760">
                <a:tc>
                  <a:txBody>
                    <a:bodyPr lIns="75960" rIns="75960" tIns="18720" bIns="18720" anchor="ctr">
                      <a:noAutofit/>
                    </a:bodyPr>
                    <a:p>
                      <a:endParaRPr b="0" lang="es-CO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284e3f"/>
                      </a:solidFill>
                      <a:prstDash val="solid"/>
                    </a:lnL>
                    <a:lnR w="14400">
                      <a:solidFill>
                        <a:srgbClr val="ffffff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5960" rIns="75960" tIns="18720" bIns="18720" anchor="ctr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s-MX" sz="600" spc="-1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</a:rPr>
                        <a:t>Diagrama de Casos de Uso</a:t>
                      </a:r>
                      <a:endParaRPr b="0" lang="es-CO" sz="6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ffffff"/>
                      </a:solidFill>
                      <a:prstDash val="solid"/>
                    </a:lnL>
                    <a:lnR w="14400">
                      <a:solidFill>
                        <a:srgbClr val="ffffff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5960" rIns="75960" tIns="18720" bIns="18720" anchor="ctr">
                      <a:noAutofit/>
                    </a:bodyPr>
                    <a:p>
                      <a:endParaRPr b="0" lang="es-CO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ffffff"/>
                      </a:solidFill>
                      <a:prstDash val="solid"/>
                    </a:lnL>
                    <a:lnR w="14400">
                      <a:solidFill>
                        <a:srgbClr val="ffffff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5960" rIns="75960" tIns="18720" bIns="18720" anchor="ctr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s-MX" sz="600" spc="-1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</a:rPr>
                        <a:t>■</a:t>
                      </a:r>
                      <a:endParaRPr b="0" lang="es-CO" sz="6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ffffff"/>
                      </a:solidFill>
                      <a:prstDash val="solid"/>
                    </a:lnL>
                    <a:lnR w="14400">
                      <a:solidFill>
                        <a:srgbClr val="ffffff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5960" rIns="75960" tIns="18720" bIns="18720" anchor="ctr">
                      <a:noAutofit/>
                    </a:bodyPr>
                    <a:p>
                      <a:endParaRPr b="0" lang="es-CO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ffffff"/>
                      </a:solidFill>
                      <a:prstDash val="solid"/>
                    </a:lnL>
                    <a:lnR w="14400">
                      <a:solidFill>
                        <a:srgbClr val="ffffff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5960" rIns="75960" tIns="18720" bIns="18720" anchor="ctr">
                      <a:noAutofit/>
                    </a:bodyPr>
                    <a:p>
                      <a:endParaRPr b="0" lang="es-CO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ffffff"/>
                      </a:solidFill>
                      <a:prstDash val="solid"/>
                    </a:lnL>
                    <a:lnR w="14400">
                      <a:solidFill>
                        <a:srgbClr val="ffffff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5960" rIns="75960" tIns="18720" bIns="18720" anchor="ctr">
                      <a:noAutofit/>
                    </a:bodyPr>
                    <a:p>
                      <a:endParaRPr b="0" lang="es-CO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ffffff"/>
                      </a:solidFill>
                      <a:prstDash val="solid"/>
                    </a:lnL>
                    <a:lnR w="14400">
                      <a:solidFill>
                        <a:srgbClr val="ffffff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5960" rIns="75960" tIns="18720" bIns="18720" anchor="ctr">
                      <a:noAutofit/>
                    </a:bodyPr>
                    <a:p>
                      <a:endParaRPr b="0" lang="es-CO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ffffff"/>
                      </a:solidFill>
                      <a:prstDash val="solid"/>
                    </a:lnL>
                    <a:lnR w="14400">
                      <a:solidFill>
                        <a:srgbClr val="ffffff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5960" rIns="75960" tIns="18720" bIns="18720" anchor="ctr">
                      <a:noAutofit/>
                    </a:bodyPr>
                    <a:p>
                      <a:endParaRPr b="0" lang="es-CO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ffffff"/>
                      </a:solidFill>
                      <a:prstDash val="solid"/>
                    </a:lnL>
                    <a:lnR w="14400">
                      <a:solidFill>
                        <a:srgbClr val="284e3f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74760">
                <a:tc>
                  <a:txBody>
                    <a:bodyPr lIns="75960" rIns="75960" tIns="18720" bIns="18720" anchor="ctr">
                      <a:noAutofit/>
                    </a:bodyPr>
                    <a:p>
                      <a:endParaRPr b="0" lang="es-CO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284e3f"/>
                      </a:solidFill>
                      <a:prstDash val="solid"/>
                    </a:lnL>
                    <a:lnR w="14400">
                      <a:solidFill>
                        <a:srgbClr val="f6f8f9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 lIns="75960" rIns="75960" tIns="18720" bIns="18720" anchor="ctr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s-MX" sz="600" spc="-1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</a:rPr>
                        <a:t>Casos de Uso Extendido (Narrativa)</a:t>
                      </a:r>
                      <a:endParaRPr b="0" lang="es-CO" sz="6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f6f8f9"/>
                      </a:solidFill>
                      <a:prstDash val="solid"/>
                    </a:lnL>
                    <a:lnR w="14400">
                      <a:solidFill>
                        <a:srgbClr val="f6f8f9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 lIns="75960" rIns="75960" tIns="18720" bIns="18720" anchor="ctr">
                      <a:noAutofit/>
                    </a:bodyPr>
                    <a:p>
                      <a:endParaRPr b="0" lang="es-CO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f6f8f9"/>
                      </a:solidFill>
                      <a:prstDash val="solid"/>
                    </a:lnL>
                    <a:lnR w="14400">
                      <a:solidFill>
                        <a:srgbClr val="f6f8f9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 lIns="75960" rIns="75960" tIns="18720" bIns="18720" anchor="ctr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s-MX" sz="600" spc="-1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</a:rPr>
                        <a:t>■</a:t>
                      </a:r>
                      <a:endParaRPr b="0" lang="es-CO" sz="6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f6f8f9"/>
                      </a:solidFill>
                      <a:prstDash val="solid"/>
                    </a:lnL>
                    <a:lnR w="14400">
                      <a:solidFill>
                        <a:srgbClr val="f6f8f9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 lIns="75960" rIns="75960" tIns="18720" bIns="18720" anchor="ctr">
                      <a:noAutofit/>
                    </a:bodyPr>
                    <a:p>
                      <a:endParaRPr b="0" lang="es-CO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f6f8f9"/>
                      </a:solidFill>
                      <a:prstDash val="solid"/>
                    </a:lnL>
                    <a:lnR w="14400">
                      <a:solidFill>
                        <a:srgbClr val="f6f8f9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 lIns="75960" rIns="75960" tIns="18720" bIns="18720" anchor="ctr">
                      <a:noAutofit/>
                    </a:bodyPr>
                    <a:p>
                      <a:endParaRPr b="0" lang="es-CO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f6f8f9"/>
                      </a:solidFill>
                      <a:prstDash val="solid"/>
                    </a:lnL>
                    <a:lnR w="14400">
                      <a:solidFill>
                        <a:srgbClr val="f6f8f9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 lIns="75960" rIns="75960" tIns="18720" bIns="18720" anchor="ctr">
                      <a:noAutofit/>
                    </a:bodyPr>
                    <a:p>
                      <a:endParaRPr b="0" lang="es-CO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f6f8f9"/>
                      </a:solidFill>
                      <a:prstDash val="solid"/>
                    </a:lnL>
                    <a:lnR w="14400">
                      <a:solidFill>
                        <a:srgbClr val="f6f8f9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 lIns="75960" rIns="75960" tIns="18720" bIns="18720" anchor="ctr">
                      <a:noAutofit/>
                    </a:bodyPr>
                    <a:p>
                      <a:endParaRPr b="0" lang="es-CO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f6f8f9"/>
                      </a:solidFill>
                      <a:prstDash val="solid"/>
                    </a:lnL>
                    <a:lnR w="14400">
                      <a:solidFill>
                        <a:srgbClr val="f6f8f9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 lIns="75960" rIns="75960" tIns="18720" bIns="18720" anchor="ctr">
                      <a:noAutofit/>
                    </a:bodyPr>
                    <a:p>
                      <a:endParaRPr b="0" lang="es-CO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f6f8f9"/>
                      </a:solidFill>
                      <a:prstDash val="solid"/>
                    </a:lnL>
                    <a:lnR w="14400">
                      <a:solidFill>
                        <a:srgbClr val="284e3f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6f8f9"/>
                    </a:solidFill>
                  </a:tcPr>
                </a:tc>
              </a:tr>
              <a:tr h="374760">
                <a:tc>
                  <a:txBody>
                    <a:bodyPr lIns="75960" rIns="75960" tIns="18720" bIns="18720" anchor="ctr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s-MX" sz="600" spc="-1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</a:rPr>
                        <a:t>DISEÑO</a:t>
                      </a:r>
                      <a:endParaRPr b="0" lang="es-CO" sz="6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284e3f"/>
                      </a:solidFill>
                      <a:prstDash val="solid"/>
                    </a:lnL>
                    <a:lnR w="14400">
                      <a:solidFill>
                        <a:srgbClr val="ffffff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5960" rIns="75960" tIns="18720" bIns="18720" anchor="ctr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s-MX" sz="600" spc="-1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</a:rPr>
                        <a:t>Diagrama de Clases</a:t>
                      </a:r>
                      <a:endParaRPr b="0" lang="es-CO" sz="6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ffffff"/>
                      </a:solidFill>
                      <a:prstDash val="solid"/>
                    </a:lnL>
                    <a:lnR w="14400">
                      <a:solidFill>
                        <a:srgbClr val="ffffff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5960" rIns="75960" tIns="18720" bIns="18720" anchor="ctr">
                      <a:noAutofit/>
                    </a:bodyPr>
                    <a:p>
                      <a:endParaRPr b="0" lang="es-CO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ffffff"/>
                      </a:solidFill>
                      <a:prstDash val="solid"/>
                    </a:lnL>
                    <a:lnR w="14400">
                      <a:solidFill>
                        <a:srgbClr val="ffffff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5960" rIns="75960" tIns="18720" bIns="18720" anchor="ctr">
                      <a:noAutofit/>
                    </a:bodyPr>
                    <a:p>
                      <a:endParaRPr b="0" lang="es-CO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ffffff"/>
                      </a:solidFill>
                      <a:prstDash val="solid"/>
                    </a:lnL>
                    <a:lnR w="14400">
                      <a:solidFill>
                        <a:srgbClr val="ffffff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5960" rIns="75960" tIns="18720" bIns="18720" anchor="ctr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s-MX" sz="600" spc="-1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</a:rPr>
                        <a:t>■</a:t>
                      </a:r>
                      <a:endParaRPr b="0" lang="es-CO" sz="6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ffffff"/>
                      </a:solidFill>
                      <a:prstDash val="solid"/>
                    </a:lnL>
                    <a:lnR w="14400">
                      <a:solidFill>
                        <a:srgbClr val="ffffff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5960" rIns="75960" tIns="18720" bIns="18720" anchor="ctr">
                      <a:noAutofit/>
                    </a:bodyPr>
                    <a:p>
                      <a:endParaRPr b="0" lang="es-CO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ffffff"/>
                      </a:solidFill>
                      <a:prstDash val="solid"/>
                    </a:lnL>
                    <a:lnR w="14400">
                      <a:solidFill>
                        <a:srgbClr val="ffffff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5960" rIns="75960" tIns="18720" bIns="18720" anchor="ctr">
                      <a:noAutofit/>
                    </a:bodyPr>
                    <a:p>
                      <a:endParaRPr b="0" lang="es-CO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ffffff"/>
                      </a:solidFill>
                      <a:prstDash val="solid"/>
                    </a:lnL>
                    <a:lnR w="14400">
                      <a:solidFill>
                        <a:srgbClr val="ffffff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5960" rIns="75960" tIns="18720" bIns="18720" anchor="ctr">
                      <a:noAutofit/>
                    </a:bodyPr>
                    <a:p>
                      <a:endParaRPr b="0" lang="es-CO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ffffff"/>
                      </a:solidFill>
                      <a:prstDash val="solid"/>
                    </a:lnL>
                    <a:lnR w="14400">
                      <a:solidFill>
                        <a:srgbClr val="ffffff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5960" rIns="75960" tIns="18720" bIns="18720" anchor="ctr">
                      <a:noAutofit/>
                    </a:bodyPr>
                    <a:p>
                      <a:endParaRPr b="0" lang="es-CO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ffffff"/>
                      </a:solidFill>
                      <a:prstDash val="solid"/>
                    </a:lnL>
                    <a:lnR w="14400">
                      <a:solidFill>
                        <a:srgbClr val="284e3f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74760">
                <a:tc>
                  <a:txBody>
                    <a:bodyPr lIns="75960" rIns="75960" tIns="18720" bIns="18720" anchor="ctr">
                      <a:noAutofit/>
                    </a:bodyPr>
                    <a:p>
                      <a:endParaRPr b="0" lang="es-CO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284e3f"/>
                      </a:solidFill>
                      <a:prstDash val="solid"/>
                    </a:lnL>
                    <a:lnR w="14400">
                      <a:solidFill>
                        <a:srgbClr val="f6f8f9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 lIns="75960" rIns="75960" tIns="18720" bIns="18720" anchor="ctr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s-MX" sz="600" spc="-1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</a:rPr>
                        <a:t>Modelo Entidad Relación (MER)</a:t>
                      </a:r>
                      <a:endParaRPr b="0" lang="es-CO" sz="6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f6f8f9"/>
                      </a:solidFill>
                      <a:prstDash val="solid"/>
                    </a:lnL>
                    <a:lnR w="14400">
                      <a:solidFill>
                        <a:srgbClr val="f6f8f9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 lIns="75960" rIns="75960" tIns="18720" bIns="18720" anchor="ctr">
                      <a:noAutofit/>
                    </a:bodyPr>
                    <a:p>
                      <a:endParaRPr b="0" lang="es-CO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f6f8f9"/>
                      </a:solidFill>
                      <a:prstDash val="solid"/>
                    </a:lnL>
                    <a:lnR w="14400">
                      <a:solidFill>
                        <a:srgbClr val="f6f8f9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 lIns="75960" rIns="75960" tIns="18720" bIns="18720" anchor="ctr">
                      <a:noAutofit/>
                    </a:bodyPr>
                    <a:p>
                      <a:endParaRPr b="0" lang="es-CO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f6f8f9"/>
                      </a:solidFill>
                      <a:prstDash val="solid"/>
                    </a:lnL>
                    <a:lnR w="14400">
                      <a:solidFill>
                        <a:srgbClr val="f6f8f9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 lIns="75960" rIns="75960" tIns="18720" bIns="18720" anchor="ctr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s-MX" sz="600" spc="-1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</a:rPr>
                        <a:t>■</a:t>
                      </a:r>
                      <a:endParaRPr b="0" lang="es-CO" sz="6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f6f8f9"/>
                      </a:solidFill>
                      <a:prstDash val="solid"/>
                    </a:lnL>
                    <a:lnR w="14400">
                      <a:solidFill>
                        <a:srgbClr val="f6f8f9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 lIns="75960" rIns="75960" tIns="18720" bIns="18720" anchor="ctr">
                      <a:noAutofit/>
                    </a:bodyPr>
                    <a:p>
                      <a:endParaRPr b="0" lang="es-CO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f6f8f9"/>
                      </a:solidFill>
                      <a:prstDash val="solid"/>
                    </a:lnL>
                    <a:lnR w="14400">
                      <a:solidFill>
                        <a:srgbClr val="f6f8f9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 lIns="75960" rIns="75960" tIns="18720" bIns="18720" anchor="ctr">
                      <a:noAutofit/>
                    </a:bodyPr>
                    <a:p>
                      <a:endParaRPr b="0" lang="es-CO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f6f8f9"/>
                      </a:solidFill>
                      <a:prstDash val="solid"/>
                    </a:lnL>
                    <a:lnR w="14400">
                      <a:solidFill>
                        <a:srgbClr val="f6f8f9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 lIns="75960" rIns="75960" tIns="18720" bIns="18720" anchor="ctr">
                      <a:noAutofit/>
                    </a:bodyPr>
                    <a:p>
                      <a:endParaRPr b="0" lang="es-CO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f6f8f9"/>
                      </a:solidFill>
                      <a:prstDash val="solid"/>
                    </a:lnL>
                    <a:lnR w="14400">
                      <a:solidFill>
                        <a:srgbClr val="f6f8f9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 lIns="75960" rIns="75960" tIns="18720" bIns="18720" anchor="ctr">
                      <a:noAutofit/>
                    </a:bodyPr>
                    <a:p>
                      <a:endParaRPr b="0" lang="es-CO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f6f8f9"/>
                      </a:solidFill>
                      <a:prstDash val="solid"/>
                    </a:lnL>
                    <a:lnR w="14400">
                      <a:solidFill>
                        <a:srgbClr val="284e3f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6f8f9"/>
                    </a:solidFill>
                  </a:tcPr>
                </a:tc>
              </a:tr>
              <a:tr h="374760">
                <a:tc>
                  <a:txBody>
                    <a:bodyPr lIns="75960" rIns="75960" tIns="18720" bIns="18720" anchor="ctr">
                      <a:noAutofit/>
                    </a:bodyPr>
                    <a:p>
                      <a:endParaRPr b="0" lang="es-CO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284e3f"/>
                      </a:solidFill>
                      <a:prstDash val="solid"/>
                    </a:lnL>
                    <a:lnR w="14400">
                      <a:solidFill>
                        <a:srgbClr val="ffffff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5960" rIns="75960" tIns="18720" bIns="18720" anchor="ctr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s-MX" sz="600" spc="-1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</a:rPr>
                        <a:t>Modelo Relacional (MR)</a:t>
                      </a:r>
                      <a:endParaRPr b="0" lang="es-CO" sz="6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ffffff"/>
                      </a:solidFill>
                      <a:prstDash val="solid"/>
                    </a:lnL>
                    <a:lnR w="14400">
                      <a:solidFill>
                        <a:srgbClr val="ffffff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5960" rIns="75960" tIns="18720" bIns="18720" anchor="ctr">
                      <a:noAutofit/>
                    </a:bodyPr>
                    <a:p>
                      <a:endParaRPr b="0" lang="es-CO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ffffff"/>
                      </a:solidFill>
                      <a:prstDash val="solid"/>
                    </a:lnL>
                    <a:lnR w="14400">
                      <a:solidFill>
                        <a:srgbClr val="ffffff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5960" rIns="75960" tIns="18720" bIns="18720" anchor="ctr">
                      <a:noAutofit/>
                    </a:bodyPr>
                    <a:p>
                      <a:endParaRPr b="0" lang="es-CO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ffffff"/>
                      </a:solidFill>
                      <a:prstDash val="solid"/>
                    </a:lnL>
                    <a:lnR w="14400">
                      <a:solidFill>
                        <a:srgbClr val="ffffff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5960" rIns="75960" tIns="18720" bIns="18720" anchor="ctr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s-MX" sz="600" spc="-1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</a:rPr>
                        <a:t>■</a:t>
                      </a:r>
                      <a:endParaRPr b="0" lang="es-CO" sz="6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ffffff"/>
                      </a:solidFill>
                      <a:prstDash val="solid"/>
                    </a:lnL>
                    <a:lnR w="14400">
                      <a:solidFill>
                        <a:srgbClr val="ffffff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5960" rIns="75960" tIns="18720" bIns="18720" anchor="ctr">
                      <a:noAutofit/>
                    </a:bodyPr>
                    <a:p>
                      <a:endParaRPr b="0" lang="es-CO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ffffff"/>
                      </a:solidFill>
                      <a:prstDash val="solid"/>
                    </a:lnL>
                    <a:lnR w="14400">
                      <a:solidFill>
                        <a:srgbClr val="ffffff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5960" rIns="75960" tIns="18720" bIns="18720" anchor="ctr">
                      <a:noAutofit/>
                    </a:bodyPr>
                    <a:p>
                      <a:endParaRPr b="0" lang="es-CO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ffffff"/>
                      </a:solidFill>
                      <a:prstDash val="solid"/>
                    </a:lnL>
                    <a:lnR w="14400">
                      <a:solidFill>
                        <a:srgbClr val="ffffff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5960" rIns="75960" tIns="18720" bIns="18720" anchor="ctr">
                      <a:noAutofit/>
                    </a:bodyPr>
                    <a:p>
                      <a:endParaRPr b="0" lang="es-CO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ffffff"/>
                      </a:solidFill>
                      <a:prstDash val="solid"/>
                    </a:lnL>
                    <a:lnR w="14400">
                      <a:solidFill>
                        <a:srgbClr val="ffffff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5960" rIns="75960" tIns="18720" bIns="18720" anchor="ctr">
                      <a:noAutofit/>
                    </a:bodyPr>
                    <a:p>
                      <a:endParaRPr b="0" lang="es-CO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ffffff"/>
                      </a:solidFill>
                      <a:prstDash val="solid"/>
                    </a:lnL>
                    <a:lnR w="14400">
                      <a:solidFill>
                        <a:srgbClr val="284e3f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74760">
                <a:tc>
                  <a:txBody>
                    <a:bodyPr lIns="75960" rIns="75960" tIns="18720" bIns="18720" anchor="ctr">
                      <a:noAutofit/>
                    </a:bodyPr>
                    <a:p>
                      <a:endParaRPr b="0" lang="es-CO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284e3f"/>
                      </a:solidFill>
                      <a:prstDash val="solid"/>
                    </a:lnL>
                    <a:lnR w="14400">
                      <a:solidFill>
                        <a:srgbClr val="f6f8f9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 lIns="75960" rIns="75960" tIns="18720" bIns="18720" anchor="ctr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s-MX" sz="600" spc="-1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</a:rPr>
                        <a:t>Diccionario de Datos</a:t>
                      </a:r>
                      <a:endParaRPr b="0" lang="es-CO" sz="6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f6f8f9"/>
                      </a:solidFill>
                      <a:prstDash val="solid"/>
                    </a:lnL>
                    <a:lnR w="14400">
                      <a:solidFill>
                        <a:srgbClr val="f6f8f9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 lIns="75960" rIns="75960" tIns="18720" bIns="18720" anchor="ctr">
                      <a:noAutofit/>
                    </a:bodyPr>
                    <a:p>
                      <a:endParaRPr b="0" lang="es-CO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f6f8f9"/>
                      </a:solidFill>
                      <a:prstDash val="solid"/>
                    </a:lnL>
                    <a:lnR w="14400">
                      <a:solidFill>
                        <a:srgbClr val="f6f8f9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 lIns="75960" rIns="75960" tIns="18720" bIns="18720" anchor="ctr">
                      <a:noAutofit/>
                    </a:bodyPr>
                    <a:p>
                      <a:endParaRPr b="0" lang="es-CO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f6f8f9"/>
                      </a:solidFill>
                      <a:prstDash val="solid"/>
                    </a:lnL>
                    <a:lnR w="14400">
                      <a:solidFill>
                        <a:srgbClr val="f6f8f9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 lIns="75960" rIns="75960" tIns="18720" bIns="18720" anchor="ctr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s-MX" sz="600" spc="-1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</a:rPr>
                        <a:t>■</a:t>
                      </a:r>
                      <a:endParaRPr b="0" lang="es-CO" sz="6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f6f8f9"/>
                      </a:solidFill>
                      <a:prstDash val="solid"/>
                    </a:lnL>
                    <a:lnR w="14400">
                      <a:solidFill>
                        <a:srgbClr val="f6f8f9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 lIns="75960" rIns="75960" tIns="18720" bIns="18720" anchor="ctr">
                      <a:noAutofit/>
                    </a:bodyPr>
                    <a:p>
                      <a:endParaRPr b="0" lang="es-CO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f6f8f9"/>
                      </a:solidFill>
                      <a:prstDash val="solid"/>
                    </a:lnL>
                    <a:lnR w="14400">
                      <a:solidFill>
                        <a:srgbClr val="f6f8f9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 lIns="75960" rIns="75960" tIns="18720" bIns="18720" anchor="ctr">
                      <a:noAutofit/>
                    </a:bodyPr>
                    <a:p>
                      <a:endParaRPr b="0" lang="es-CO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f6f8f9"/>
                      </a:solidFill>
                      <a:prstDash val="solid"/>
                    </a:lnL>
                    <a:lnR w="14400">
                      <a:solidFill>
                        <a:srgbClr val="f6f8f9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 lIns="75960" rIns="75960" tIns="18720" bIns="18720" anchor="ctr">
                      <a:noAutofit/>
                    </a:bodyPr>
                    <a:p>
                      <a:endParaRPr b="0" lang="es-CO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f6f8f9"/>
                      </a:solidFill>
                      <a:prstDash val="solid"/>
                    </a:lnL>
                    <a:lnR w="14400">
                      <a:solidFill>
                        <a:srgbClr val="f6f8f9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 lIns="75960" rIns="75960" tIns="18720" bIns="18720" anchor="ctr">
                      <a:noAutofit/>
                    </a:bodyPr>
                    <a:p>
                      <a:endParaRPr b="0" lang="es-CO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f6f8f9"/>
                      </a:solidFill>
                      <a:prstDash val="solid"/>
                    </a:lnL>
                    <a:lnR w="14400">
                      <a:solidFill>
                        <a:srgbClr val="284e3f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6f8f9"/>
                    </a:solidFill>
                  </a:tcPr>
                </a:tc>
              </a:tr>
              <a:tr h="374760">
                <a:tc>
                  <a:txBody>
                    <a:bodyPr lIns="75960" rIns="75960" tIns="18720" bIns="18720" anchor="ctr">
                      <a:noAutofit/>
                    </a:bodyPr>
                    <a:p>
                      <a:endParaRPr b="0" lang="es-CO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284e3f"/>
                      </a:solidFill>
                      <a:prstDash val="solid"/>
                    </a:lnL>
                    <a:lnR w="14400">
                      <a:solidFill>
                        <a:srgbClr val="ffffff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5960" rIns="75960" tIns="18720" bIns="18720" anchor="ctr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s-MX" sz="600" spc="-1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</a:rPr>
                        <a:t>Prototipo No Funcional </a:t>
                      </a:r>
                      <a:r>
                        <a:rPr b="0" lang="es-MX" sz="600" spc="-1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</a:rPr>
                        <a:t>(Maquetas/Wireframes)</a:t>
                      </a:r>
                      <a:endParaRPr b="0" lang="es-CO" sz="6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ffffff"/>
                      </a:solidFill>
                      <a:prstDash val="solid"/>
                    </a:lnL>
                    <a:lnR w="14400">
                      <a:solidFill>
                        <a:srgbClr val="ffffff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5960" rIns="75960" tIns="18720" bIns="18720" anchor="ctr">
                      <a:noAutofit/>
                    </a:bodyPr>
                    <a:p>
                      <a:endParaRPr b="0" lang="es-CO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ffffff"/>
                      </a:solidFill>
                      <a:prstDash val="solid"/>
                    </a:lnL>
                    <a:lnR w="14400">
                      <a:solidFill>
                        <a:srgbClr val="ffffff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5960" rIns="75960" tIns="18720" bIns="18720" anchor="ctr">
                      <a:noAutofit/>
                    </a:bodyPr>
                    <a:p>
                      <a:endParaRPr b="0" lang="es-CO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ffffff"/>
                      </a:solidFill>
                      <a:prstDash val="solid"/>
                    </a:lnL>
                    <a:lnR w="14400">
                      <a:solidFill>
                        <a:srgbClr val="ffffff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5960" rIns="75960" tIns="18720" bIns="18720" anchor="ctr">
                      <a:noAutofit/>
                    </a:bodyPr>
                    <a:p>
                      <a:endParaRPr b="0" lang="es-CO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ffffff"/>
                      </a:solidFill>
                      <a:prstDash val="solid"/>
                    </a:lnL>
                    <a:lnR w="14400">
                      <a:solidFill>
                        <a:srgbClr val="ffffff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5960" rIns="75960" tIns="18720" bIns="18720" anchor="ctr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s-MX" sz="600" spc="-1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</a:rPr>
                        <a:t>■</a:t>
                      </a:r>
                      <a:endParaRPr b="0" lang="es-CO" sz="6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ffffff"/>
                      </a:solidFill>
                      <a:prstDash val="solid"/>
                    </a:lnL>
                    <a:lnR w="14400">
                      <a:solidFill>
                        <a:srgbClr val="ffffff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5960" rIns="75960" tIns="18720" bIns="18720" anchor="ctr">
                      <a:noAutofit/>
                    </a:bodyPr>
                    <a:p>
                      <a:endParaRPr b="0" lang="es-CO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ffffff"/>
                      </a:solidFill>
                      <a:prstDash val="solid"/>
                    </a:lnL>
                    <a:lnR w="14400">
                      <a:solidFill>
                        <a:srgbClr val="ffffff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5960" rIns="75960" tIns="18720" bIns="18720" anchor="ctr">
                      <a:noAutofit/>
                    </a:bodyPr>
                    <a:p>
                      <a:endParaRPr b="0" lang="es-CO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ffffff"/>
                      </a:solidFill>
                      <a:prstDash val="solid"/>
                    </a:lnL>
                    <a:lnR w="14400">
                      <a:solidFill>
                        <a:srgbClr val="ffffff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5960" rIns="75960" tIns="18720" bIns="18720" anchor="ctr">
                      <a:noAutofit/>
                    </a:bodyPr>
                    <a:p>
                      <a:endParaRPr b="0" lang="es-CO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ffffff"/>
                      </a:solidFill>
                      <a:prstDash val="solid"/>
                    </a:lnL>
                    <a:lnR w="14400">
                      <a:solidFill>
                        <a:srgbClr val="284e3f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74760">
                <a:tc>
                  <a:txBody>
                    <a:bodyPr lIns="75960" rIns="75960" tIns="18720" bIns="18720" anchor="ctr">
                      <a:noAutofit/>
                    </a:bodyPr>
                    <a:p>
                      <a:endParaRPr b="0" lang="es-CO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284e3f"/>
                      </a:solidFill>
                      <a:prstDash val="solid"/>
                    </a:lnL>
                    <a:lnR w="14400">
                      <a:solidFill>
                        <a:srgbClr val="f6f8f9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 lIns="75960" rIns="75960" tIns="18720" bIns="18720" anchor="ctr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s-MX" sz="600" spc="-1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</a:rPr>
                        <a:t>Patrón de Diseño (Arquitectura de </a:t>
                      </a:r>
                      <a:r>
                        <a:rPr b="0" lang="es-MX" sz="600" spc="-1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</a:rPr>
                        <a:t>Software)</a:t>
                      </a:r>
                      <a:endParaRPr b="0" lang="es-CO" sz="6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f6f8f9"/>
                      </a:solidFill>
                      <a:prstDash val="solid"/>
                    </a:lnL>
                    <a:lnR w="14400">
                      <a:solidFill>
                        <a:srgbClr val="f6f8f9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 lIns="75960" rIns="75960" tIns="18720" bIns="18720" anchor="ctr">
                      <a:noAutofit/>
                    </a:bodyPr>
                    <a:p>
                      <a:endParaRPr b="0" lang="es-CO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f6f8f9"/>
                      </a:solidFill>
                      <a:prstDash val="solid"/>
                    </a:lnL>
                    <a:lnR w="14400">
                      <a:solidFill>
                        <a:srgbClr val="f6f8f9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 lIns="75960" rIns="75960" tIns="18720" bIns="18720" anchor="ctr">
                      <a:noAutofit/>
                    </a:bodyPr>
                    <a:p>
                      <a:endParaRPr b="0" lang="es-CO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f6f8f9"/>
                      </a:solidFill>
                      <a:prstDash val="solid"/>
                    </a:lnL>
                    <a:lnR w="14400">
                      <a:solidFill>
                        <a:srgbClr val="f6f8f9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 lIns="75960" rIns="75960" tIns="18720" bIns="18720" anchor="ctr">
                      <a:noAutofit/>
                    </a:bodyPr>
                    <a:p>
                      <a:endParaRPr b="0" lang="es-CO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f6f8f9"/>
                      </a:solidFill>
                      <a:prstDash val="solid"/>
                    </a:lnL>
                    <a:lnR w="14400">
                      <a:solidFill>
                        <a:srgbClr val="f6f8f9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 lIns="75960" rIns="75960" tIns="18720" bIns="18720" anchor="ctr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s-MX" sz="600" spc="-1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</a:rPr>
                        <a:t>■</a:t>
                      </a:r>
                      <a:endParaRPr b="0" lang="es-CO" sz="6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f6f8f9"/>
                      </a:solidFill>
                      <a:prstDash val="solid"/>
                    </a:lnL>
                    <a:lnR w="14400">
                      <a:solidFill>
                        <a:srgbClr val="f6f8f9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 lIns="75960" rIns="75960" tIns="18720" bIns="18720" anchor="ctr">
                      <a:noAutofit/>
                    </a:bodyPr>
                    <a:p>
                      <a:endParaRPr b="0" lang="es-CO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f6f8f9"/>
                      </a:solidFill>
                      <a:prstDash val="solid"/>
                    </a:lnL>
                    <a:lnR w="14400">
                      <a:solidFill>
                        <a:srgbClr val="f6f8f9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 lIns="75960" rIns="75960" tIns="18720" bIns="18720" anchor="ctr">
                      <a:noAutofit/>
                    </a:bodyPr>
                    <a:p>
                      <a:endParaRPr b="0" lang="es-CO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f6f8f9"/>
                      </a:solidFill>
                      <a:prstDash val="solid"/>
                    </a:lnL>
                    <a:lnR w="14400">
                      <a:solidFill>
                        <a:srgbClr val="f6f8f9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 lIns="75960" rIns="75960" tIns="18720" bIns="18720" anchor="ctr">
                      <a:noAutofit/>
                    </a:bodyPr>
                    <a:p>
                      <a:endParaRPr b="0" lang="es-CO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f6f8f9"/>
                      </a:solidFill>
                      <a:prstDash val="solid"/>
                    </a:lnL>
                    <a:lnR w="14400">
                      <a:solidFill>
                        <a:srgbClr val="284e3f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6f8f9"/>
                    </a:solidFill>
                  </a:tcPr>
                </a:tc>
              </a:tr>
              <a:tr h="374760">
                <a:tc>
                  <a:txBody>
                    <a:bodyPr lIns="75960" rIns="75960" tIns="18720" bIns="18720" anchor="ctr">
                      <a:noAutofit/>
                    </a:bodyPr>
                    <a:p>
                      <a:endParaRPr b="0" lang="es-CO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284e3f"/>
                      </a:solidFill>
                      <a:prstDash val="solid"/>
                    </a:lnL>
                    <a:lnR w="14400">
                      <a:solidFill>
                        <a:srgbClr val="ffffff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5960" rIns="75960" tIns="18720" bIns="18720" anchor="ctr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s-MX" sz="600" spc="-1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</a:rPr>
                        <a:t>Planeación de Pruebas (Plan de Pruebas </a:t>
                      </a:r>
                      <a:r>
                        <a:rPr b="0" lang="es-MX" sz="600" spc="-1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</a:rPr>
                        <a:t>de Software)</a:t>
                      </a:r>
                      <a:endParaRPr b="0" lang="es-CO" sz="6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ffffff"/>
                      </a:solidFill>
                      <a:prstDash val="solid"/>
                    </a:lnL>
                    <a:lnR w="14400">
                      <a:solidFill>
                        <a:srgbClr val="ffffff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5960" rIns="75960" tIns="18720" bIns="18720" anchor="ctr">
                      <a:noAutofit/>
                    </a:bodyPr>
                    <a:p>
                      <a:endParaRPr b="0" lang="es-CO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ffffff"/>
                      </a:solidFill>
                      <a:prstDash val="solid"/>
                    </a:lnL>
                    <a:lnR w="14400">
                      <a:solidFill>
                        <a:srgbClr val="ffffff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5960" rIns="75960" tIns="18720" bIns="18720" anchor="ctr">
                      <a:noAutofit/>
                    </a:bodyPr>
                    <a:p>
                      <a:endParaRPr b="0" lang="es-CO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ffffff"/>
                      </a:solidFill>
                      <a:prstDash val="solid"/>
                    </a:lnL>
                    <a:lnR w="14400">
                      <a:solidFill>
                        <a:srgbClr val="ffffff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5960" rIns="75960" tIns="18720" bIns="18720" anchor="ctr">
                      <a:noAutofit/>
                    </a:bodyPr>
                    <a:p>
                      <a:endParaRPr b="0" lang="es-CO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ffffff"/>
                      </a:solidFill>
                      <a:prstDash val="solid"/>
                    </a:lnL>
                    <a:lnR w="14400">
                      <a:solidFill>
                        <a:srgbClr val="ffffff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5960" rIns="75960" tIns="18720" bIns="18720" anchor="ctr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s-MX" sz="600" spc="-1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</a:rPr>
                        <a:t>■</a:t>
                      </a:r>
                      <a:endParaRPr b="0" lang="es-CO" sz="6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ffffff"/>
                      </a:solidFill>
                      <a:prstDash val="solid"/>
                    </a:lnL>
                    <a:lnR w="14400">
                      <a:solidFill>
                        <a:srgbClr val="ffffff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5960" rIns="75960" tIns="18720" bIns="18720" anchor="ctr">
                      <a:noAutofit/>
                    </a:bodyPr>
                    <a:p>
                      <a:endParaRPr b="0" lang="es-CO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ffffff"/>
                      </a:solidFill>
                      <a:prstDash val="solid"/>
                    </a:lnL>
                    <a:lnR w="14400">
                      <a:solidFill>
                        <a:srgbClr val="ffffff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5960" rIns="75960" tIns="18720" bIns="18720" anchor="ctr">
                      <a:noAutofit/>
                    </a:bodyPr>
                    <a:p>
                      <a:endParaRPr b="0" lang="es-CO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ffffff"/>
                      </a:solidFill>
                      <a:prstDash val="solid"/>
                    </a:lnL>
                    <a:lnR w="14400">
                      <a:solidFill>
                        <a:srgbClr val="ffffff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5960" rIns="75960" tIns="18720" bIns="18720" anchor="ctr">
                      <a:noAutofit/>
                    </a:bodyPr>
                    <a:p>
                      <a:endParaRPr b="0" lang="es-CO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ffffff"/>
                      </a:solidFill>
                      <a:prstDash val="solid"/>
                    </a:lnL>
                    <a:lnR w="14400">
                      <a:solidFill>
                        <a:srgbClr val="284e3f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74760">
                <a:tc>
                  <a:txBody>
                    <a:bodyPr lIns="75960" rIns="75960" tIns="18720" bIns="18720" anchor="ctr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s-MX" sz="600" spc="-1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</a:rPr>
                        <a:t>DESARROLLO</a:t>
                      </a:r>
                      <a:endParaRPr b="0" lang="es-CO" sz="6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284e3f"/>
                      </a:solidFill>
                      <a:prstDash val="solid"/>
                    </a:lnL>
                    <a:lnR w="14400">
                      <a:solidFill>
                        <a:srgbClr val="f6f8f9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 lIns="75960" rIns="75960" tIns="18720" bIns="18720" anchor="ctr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s-MX" sz="600" spc="-1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</a:rPr>
                        <a:t>Script de la BBDD (Completo)</a:t>
                      </a:r>
                      <a:endParaRPr b="0" lang="es-CO" sz="6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f6f8f9"/>
                      </a:solidFill>
                      <a:prstDash val="solid"/>
                    </a:lnL>
                    <a:lnR w="14400">
                      <a:solidFill>
                        <a:srgbClr val="f6f8f9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 lIns="75960" rIns="75960" tIns="18720" bIns="18720" anchor="ctr">
                      <a:noAutofit/>
                    </a:bodyPr>
                    <a:p>
                      <a:endParaRPr b="0" lang="es-CO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f6f8f9"/>
                      </a:solidFill>
                      <a:prstDash val="solid"/>
                    </a:lnL>
                    <a:lnR w="14400">
                      <a:solidFill>
                        <a:srgbClr val="f6f8f9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 lIns="75960" rIns="75960" tIns="18720" bIns="18720" anchor="ctr">
                      <a:noAutofit/>
                    </a:bodyPr>
                    <a:p>
                      <a:endParaRPr b="0" lang="es-CO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f6f8f9"/>
                      </a:solidFill>
                      <a:prstDash val="solid"/>
                    </a:lnL>
                    <a:lnR w="14400">
                      <a:solidFill>
                        <a:srgbClr val="f6f8f9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 lIns="75960" rIns="75960" tIns="18720" bIns="18720" anchor="ctr">
                      <a:noAutofit/>
                    </a:bodyPr>
                    <a:p>
                      <a:endParaRPr b="0" lang="es-CO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f6f8f9"/>
                      </a:solidFill>
                      <a:prstDash val="solid"/>
                    </a:lnL>
                    <a:lnR w="14400">
                      <a:solidFill>
                        <a:srgbClr val="f6f8f9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 lIns="75960" rIns="75960" tIns="18720" bIns="18720" anchor="ctr">
                      <a:noAutofit/>
                    </a:bodyPr>
                    <a:p>
                      <a:endParaRPr b="0" lang="es-CO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f6f8f9"/>
                      </a:solidFill>
                      <a:prstDash val="solid"/>
                    </a:lnL>
                    <a:lnR w="14400">
                      <a:solidFill>
                        <a:srgbClr val="f6f8f9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 lIns="75960" rIns="75960" tIns="18720" bIns="18720" anchor="ctr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s-MX" sz="600" spc="-1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</a:rPr>
                        <a:t>■</a:t>
                      </a:r>
                      <a:endParaRPr b="0" lang="es-CO" sz="6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f6f8f9"/>
                      </a:solidFill>
                      <a:prstDash val="solid"/>
                    </a:lnL>
                    <a:lnR w="14400">
                      <a:solidFill>
                        <a:srgbClr val="f6f8f9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 lIns="75960" rIns="75960" tIns="18720" bIns="18720" anchor="ctr">
                      <a:noAutofit/>
                    </a:bodyPr>
                    <a:p>
                      <a:endParaRPr b="0" lang="es-CO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f6f8f9"/>
                      </a:solidFill>
                      <a:prstDash val="solid"/>
                    </a:lnL>
                    <a:lnR w="14400">
                      <a:solidFill>
                        <a:srgbClr val="f6f8f9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 lIns="75960" rIns="75960" tIns="18720" bIns="18720" anchor="ctr">
                      <a:noAutofit/>
                    </a:bodyPr>
                    <a:p>
                      <a:endParaRPr b="0" lang="es-CO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f6f8f9"/>
                      </a:solidFill>
                      <a:prstDash val="solid"/>
                    </a:lnL>
                    <a:lnR w="14400">
                      <a:solidFill>
                        <a:srgbClr val="284e3f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6f8f9"/>
                    </a:solidFill>
                  </a:tcPr>
                </a:tc>
              </a:tr>
              <a:tr h="374760">
                <a:tc>
                  <a:txBody>
                    <a:bodyPr lIns="75960" rIns="75960" tIns="18720" bIns="18720" anchor="ctr">
                      <a:noAutofit/>
                    </a:bodyPr>
                    <a:p>
                      <a:endParaRPr b="0" lang="es-CO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284e3f"/>
                      </a:solidFill>
                      <a:prstDash val="solid"/>
                    </a:lnL>
                    <a:lnR w="14400">
                      <a:solidFill>
                        <a:srgbClr val="ffffff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5960" rIns="75960" tIns="18720" bIns="18720" anchor="ctr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s-MX" sz="600" spc="-1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</a:rPr>
                        <a:t>Sentencias DDL (Definición de Datos)</a:t>
                      </a:r>
                      <a:endParaRPr b="0" lang="es-CO" sz="6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ffffff"/>
                      </a:solidFill>
                      <a:prstDash val="solid"/>
                    </a:lnL>
                    <a:lnR w="14400">
                      <a:solidFill>
                        <a:srgbClr val="ffffff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5960" rIns="75960" tIns="18720" bIns="18720" anchor="ctr">
                      <a:noAutofit/>
                    </a:bodyPr>
                    <a:p>
                      <a:endParaRPr b="0" lang="es-CO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ffffff"/>
                      </a:solidFill>
                      <a:prstDash val="solid"/>
                    </a:lnL>
                    <a:lnR w="14400">
                      <a:solidFill>
                        <a:srgbClr val="ffffff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5960" rIns="75960" tIns="18720" bIns="18720" anchor="ctr">
                      <a:noAutofit/>
                    </a:bodyPr>
                    <a:p>
                      <a:endParaRPr b="0" lang="es-CO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ffffff"/>
                      </a:solidFill>
                      <a:prstDash val="solid"/>
                    </a:lnL>
                    <a:lnR w="14400">
                      <a:solidFill>
                        <a:srgbClr val="ffffff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5960" rIns="75960" tIns="18720" bIns="18720" anchor="ctr">
                      <a:noAutofit/>
                    </a:bodyPr>
                    <a:p>
                      <a:endParaRPr b="0" lang="es-CO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ffffff"/>
                      </a:solidFill>
                      <a:prstDash val="solid"/>
                    </a:lnL>
                    <a:lnR w="14400">
                      <a:solidFill>
                        <a:srgbClr val="ffffff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5960" rIns="75960" tIns="18720" bIns="18720" anchor="ctr">
                      <a:noAutofit/>
                    </a:bodyPr>
                    <a:p>
                      <a:endParaRPr b="0" lang="es-CO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ffffff"/>
                      </a:solidFill>
                      <a:prstDash val="solid"/>
                    </a:lnL>
                    <a:lnR w="14400">
                      <a:solidFill>
                        <a:srgbClr val="ffffff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5960" rIns="75960" tIns="18720" bIns="18720" anchor="ctr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s-MX" sz="600" spc="-1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</a:rPr>
                        <a:t>■</a:t>
                      </a:r>
                      <a:endParaRPr b="0" lang="es-CO" sz="6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ffffff"/>
                      </a:solidFill>
                      <a:prstDash val="solid"/>
                    </a:lnL>
                    <a:lnR w="14400">
                      <a:solidFill>
                        <a:srgbClr val="ffffff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5960" rIns="75960" tIns="18720" bIns="18720" anchor="ctr">
                      <a:noAutofit/>
                    </a:bodyPr>
                    <a:p>
                      <a:endParaRPr b="0" lang="es-CO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ffffff"/>
                      </a:solidFill>
                      <a:prstDash val="solid"/>
                    </a:lnL>
                    <a:lnR w="14400">
                      <a:solidFill>
                        <a:srgbClr val="ffffff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5960" rIns="75960" tIns="18720" bIns="18720" anchor="ctr">
                      <a:noAutofit/>
                    </a:bodyPr>
                    <a:p>
                      <a:endParaRPr b="0" lang="es-CO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ffffff"/>
                      </a:solidFill>
                      <a:prstDash val="solid"/>
                    </a:lnL>
                    <a:lnR w="14400">
                      <a:solidFill>
                        <a:srgbClr val="284e3f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74760">
                <a:tc>
                  <a:txBody>
                    <a:bodyPr lIns="75960" rIns="75960" tIns="18720" bIns="18720" anchor="ctr">
                      <a:noAutofit/>
                    </a:bodyPr>
                    <a:p>
                      <a:endParaRPr b="0" lang="es-CO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284e3f"/>
                      </a:solidFill>
                      <a:prstDash val="solid"/>
                    </a:lnL>
                    <a:lnR w="14400">
                      <a:solidFill>
                        <a:srgbClr val="f6f8f9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 lIns="75960" rIns="75960" tIns="18720" bIns="18720" anchor="ctr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s-MX" sz="600" spc="-1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</a:rPr>
                        <a:t>Consultas DML (Manipulación de Datos)</a:t>
                      </a:r>
                      <a:endParaRPr b="0" lang="es-CO" sz="6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f6f8f9"/>
                      </a:solidFill>
                      <a:prstDash val="solid"/>
                    </a:lnL>
                    <a:lnR w="14400">
                      <a:solidFill>
                        <a:srgbClr val="f6f8f9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 lIns="75960" rIns="75960" tIns="18720" bIns="18720" anchor="ctr">
                      <a:noAutofit/>
                    </a:bodyPr>
                    <a:p>
                      <a:endParaRPr b="0" lang="es-CO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f6f8f9"/>
                      </a:solidFill>
                      <a:prstDash val="solid"/>
                    </a:lnL>
                    <a:lnR w="14400">
                      <a:solidFill>
                        <a:srgbClr val="f6f8f9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 lIns="75960" rIns="75960" tIns="18720" bIns="18720" anchor="ctr">
                      <a:noAutofit/>
                    </a:bodyPr>
                    <a:p>
                      <a:endParaRPr b="0" lang="es-CO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f6f8f9"/>
                      </a:solidFill>
                      <a:prstDash val="solid"/>
                    </a:lnL>
                    <a:lnR w="14400">
                      <a:solidFill>
                        <a:srgbClr val="f6f8f9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 lIns="75960" rIns="75960" tIns="18720" bIns="18720" anchor="ctr">
                      <a:noAutofit/>
                    </a:bodyPr>
                    <a:p>
                      <a:endParaRPr b="0" lang="es-CO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f6f8f9"/>
                      </a:solidFill>
                      <a:prstDash val="solid"/>
                    </a:lnL>
                    <a:lnR w="14400">
                      <a:solidFill>
                        <a:srgbClr val="f6f8f9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 lIns="75960" rIns="75960" tIns="18720" bIns="18720" anchor="ctr">
                      <a:noAutofit/>
                    </a:bodyPr>
                    <a:p>
                      <a:endParaRPr b="0" lang="es-CO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f6f8f9"/>
                      </a:solidFill>
                      <a:prstDash val="solid"/>
                    </a:lnL>
                    <a:lnR w="14400">
                      <a:solidFill>
                        <a:srgbClr val="f6f8f9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 lIns="75960" rIns="75960" tIns="18720" bIns="18720" anchor="ctr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s-MX" sz="600" spc="-1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</a:rPr>
                        <a:t>■</a:t>
                      </a:r>
                      <a:endParaRPr b="0" lang="es-CO" sz="6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f6f8f9"/>
                      </a:solidFill>
                      <a:prstDash val="solid"/>
                    </a:lnL>
                    <a:lnR w="14400">
                      <a:solidFill>
                        <a:srgbClr val="f6f8f9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 lIns="75960" rIns="75960" tIns="18720" bIns="18720" anchor="ctr">
                      <a:noAutofit/>
                    </a:bodyPr>
                    <a:p>
                      <a:endParaRPr b="0" lang="es-CO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f6f8f9"/>
                      </a:solidFill>
                      <a:prstDash val="solid"/>
                    </a:lnL>
                    <a:lnR w="14400">
                      <a:solidFill>
                        <a:srgbClr val="f6f8f9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 lIns="75960" rIns="75960" tIns="18720" bIns="18720" anchor="ctr">
                      <a:noAutofit/>
                    </a:bodyPr>
                    <a:p>
                      <a:endParaRPr b="0" lang="es-CO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f6f8f9"/>
                      </a:solidFill>
                      <a:prstDash val="solid"/>
                    </a:lnL>
                    <a:lnR w="14400">
                      <a:solidFill>
                        <a:srgbClr val="284e3f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6f8f9"/>
                    </a:solidFill>
                  </a:tcPr>
                </a:tc>
              </a:tr>
              <a:tr h="374760">
                <a:tc>
                  <a:txBody>
                    <a:bodyPr lIns="75960" rIns="75960" tIns="18720" bIns="18720" anchor="ctr">
                      <a:noAutofit/>
                    </a:bodyPr>
                    <a:p>
                      <a:endParaRPr b="0" lang="es-CO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284e3f"/>
                      </a:solidFill>
                      <a:prstDash val="solid"/>
                    </a:lnL>
                    <a:lnR w="14400">
                      <a:solidFill>
                        <a:srgbClr val="ffffff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5960" rIns="75960" tIns="18720" bIns="18720" anchor="ctr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s-MX" sz="600" spc="-1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</a:rPr>
                        <a:t>Automatización de la BBDD (Triggers / </a:t>
                      </a:r>
                      <a:r>
                        <a:rPr b="0" lang="es-MX" sz="600" spc="-1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</a:rPr>
                        <a:t>Procedimientos)</a:t>
                      </a:r>
                      <a:endParaRPr b="0" lang="es-CO" sz="6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ffffff"/>
                      </a:solidFill>
                      <a:prstDash val="solid"/>
                    </a:lnL>
                    <a:lnR w="14400">
                      <a:solidFill>
                        <a:srgbClr val="ffffff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5960" rIns="75960" tIns="18720" bIns="18720" anchor="ctr">
                      <a:noAutofit/>
                    </a:bodyPr>
                    <a:p>
                      <a:endParaRPr b="0" lang="es-CO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ffffff"/>
                      </a:solidFill>
                      <a:prstDash val="solid"/>
                    </a:lnL>
                    <a:lnR w="14400">
                      <a:solidFill>
                        <a:srgbClr val="ffffff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5960" rIns="75960" tIns="18720" bIns="18720" anchor="ctr">
                      <a:noAutofit/>
                    </a:bodyPr>
                    <a:p>
                      <a:endParaRPr b="0" lang="es-CO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ffffff"/>
                      </a:solidFill>
                      <a:prstDash val="solid"/>
                    </a:lnL>
                    <a:lnR w="14400">
                      <a:solidFill>
                        <a:srgbClr val="ffffff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5960" rIns="75960" tIns="18720" bIns="18720" anchor="ctr">
                      <a:noAutofit/>
                    </a:bodyPr>
                    <a:p>
                      <a:endParaRPr b="0" lang="es-CO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ffffff"/>
                      </a:solidFill>
                      <a:prstDash val="solid"/>
                    </a:lnL>
                    <a:lnR w="14400">
                      <a:solidFill>
                        <a:srgbClr val="ffffff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5960" rIns="75960" tIns="18720" bIns="18720" anchor="ctr">
                      <a:noAutofit/>
                    </a:bodyPr>
                    <a:p>
                      <a:endParaRPr b="0" lang="es-CO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ffffff"/>
                      </a:solidFill>
                      <a:prstDash val="solid"/>
                    </a:lnL>
                    <a:lnR w="14400">
                      <a:solidFill>
                        <a:srgbClr val="ffffff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5960" rIns="75960" tIns="18720" bIns="18720" anchor="ctr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s-MX" sz="600" spc="-1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</a:rPr>
                        <a:t>■</a:t>
                      </a:r>
                      <a:endParaRPr b="0" lang="es-CO" sz="6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ffffff"/>
                      </a:solidFill>
                      <a:prstDash val="solid"/>
                    </a:lnL>
                    <a:lnR w="14400">
                      <a:solidFill>
                        <a:srgbClr val="ffffff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5960" rIns="75960" tIns="18720" bIns="18720" anchor="ctr">
                      <a:noAutofit/>
                    </a:bodyPr>
                    <a:p>
                      <a:endParaRPr b="0" lang="es-CO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ffffff"/>
                      </a:solidFill>
                      <a:prstDash val="solid"/>
                    </a:lnL>
                    <a:lnR w="14400">
                      <a:solidFill>
                        <a:srgbClr val="ffffff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5960" rIns="75960" tIns="18720" bIns="18720" anchor="ctr">
                      <a:noAutofit/>
                    </a:bodyPr>
                    <a:p>
                      <a:endParaRPr b="0" lang="es-CO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ffffff"/>
                      </a:solidFill>
                      <a:prstDash val="solid"/>
                    </a:lnL>
                    <a:lnR w="14400">
                      <a:solidFill>
                        <a:srgbClr val="284e3f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74760">
                <a:tc>
                  <a:txBody>
                    <a:bodyPr lIns="75960" rIns="75960" tIns="18720" bIns="18720" anchor="ctr">
                      <a:noAutofit/>
                    </a:bodyPr>
                    <a:p>
                      <a:endParaRPr b="0" lang="es-CO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284e3f"/>
                      </a:solidFill>
                      <a:prstDash val="solid"/>
                    </a:lnL>
                    <a:lnR w="14400">
                      <a:solidFill>
                        <a:srgbClr val="f6f8f9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 lIns="75960" rIns="75960" tIns="18720" bIns="18720" anchor="ctr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s-MX" sz="600" spc="-1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</a:rPr>
                        <a:t>Sistema de Información Web – Servidor Local</a:t>
                      </a:r>
                      <a:endParaRPr b="0" lang="es-CO" sz="6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f6f8f9"/>
                      </a:solidFill>
                      <a:prstDash val="solid"/>
                    </a:lnL>
                    <a:lnR w="14400">
                      <a:solidFill>
                        <a:srgbClr val="f6f8f9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 lIns="75960" rIns="75960" tIns="18720" bIns="18720" anchor="ctr">
                      <a:noAutofit/>
                    </a:bodyPr>
                    <a:p>
                      <a:endParaRPr b="0" lang="es-CO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f6f8f9"/>
                      </a:solidFill>
                      <a:prstDash val="solid"/>
                    </a:lnL>
                    <a:lnR w="14400">
                      <a:solidFill>
                        <a:srgbClr val="f6f8f9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 lIns="75960" rIns="75960" tIns="18720" bIns="18720" anchor="ctr">
                      <a:noAutofit/>
                    </a:bodyPr>
                    <a:p>
                      <a:endParaRPr b="0" lang="es-CO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f6f8f9"/>
                      </a:solidFill>
                      <a:prstDash val="solid"/>
                    </a:lnL>
                    <a:lnR w="14400">
                      <a:solidFill>
                        <a:srgbClr val="f6f8f9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 lIns="75960" rIns="75960" tIns="18720" bIns="18720" anchor="ctr">
                      <a:noAutofit/>
                    </a:bodyPr>
                    <a:p>
                      <a:endParaRPr b="0" lang="es-CO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f6f8f9"/>
                      </a:solidFill>
                      <a:prstDash val="solid"/>
                    </a:lnL>
                    <a:lnR w="14400">
                      <a:solidFill>
                        <a:srgbClr val="f6f8f9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 lIns="75960" rIns="75960" tIns="18720" bIns="18720" anchor="ctr">
                      <a:noAutofit/>
                    </a:bodyPr>
                    <a:p>
                      <a:endParaRPr b="0" lang="es-CO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f6f8f9"/>
                      </a:solidFill>
                      <a:prstDash val="solid"/>
                    </a:lnL>
                    <a:lnR w="14400">
                      <a:solidFill>
                        <a:srgbClr val="f6f8f9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 lIns="75960" rIns="75960" tIns="18720" bIns="18720" anchor="ctr">
                      <a:noAutofit/>
                    </a:bodyPr>
                    <a:p>
                      <a:endParaRPr b="0" lang="es-CO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f6f8f9"/>
                      </a:solidFill>
                      <a:prstDash val="solid"/>
                    </a:lnL>
                    <a:lnR w="14400">
                      <a:solidFill>
                        <a:srgbClr val="f6f8f9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 lIns="75960" rIns="75960" tIns="18720" bIns="18720" anchor="ctr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s-MX" sz="600" spc="-1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</a:rPr>
                        <a:t>■</a:t>
                      </a:r>
                      <a:endParaRPr b="0" lang="es-CO" sz="6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f6f8f9"/>
                      </a:solidFill>
                      <a:prstDash val="solid"/>
                    </a:lnL>
                    <a:lnR w="14400">
                      <a:solidFill>
                        <a:srgbClr val="f6f8f9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 lIns="75960" rIns="75960" tIns="18720" bIns="18720" anchor="ctr">
                      <a:noAutofit/>
                    </a:bodyPr>
                    <a:p>
                      <a:endParaRPr b="0" lang="es-CO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f6f8f9"/>
                      </a:solidFill>
                      <a:prstDash val="solid"/>
                    </a:lnL>
                    <a:lnR w="14400">
                      <a:solidFill>
                        <a:srgbClr val="284e3f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6f8f9"/>
                    </a:solidFill>
                  </a:tcPr>
                </a:tc>
              </a:tr>
              <a:tr h="374760">
                <a:tc>
                  <a:txBody>
                    <a:bodyPr lIns="75960" rIns="75960" tIns="18720" bIns="18720" anchor="ctr">
                      <a:noAutofit/>
                    </a:bodyPr>
                    <a:p>
                      <a:endParaRPr b="0" lang="es-CO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284e3f"/>
                      </a:solidFill>
                      <a:prstDash val="solid"/>
                    </a:lnL>
                    <a:lnR w="14400">
                      <a:solidFill>
                        <a:srgbClr val="ffffff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5960" rIns="75960" tIns="18720" bIns="18720" anchor="ctr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s-MX" sz="600" spc="-1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</a:rPr>
                        <a:t>Configuración del Servidor de BBDD</a:t>
                      </a:r>
                      <a:endParaRPr b="0" lang="es-CO" sz="6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ffffff"/>
                      </a:solidFill>
                      <a:prstDash val="solid"/>
                    </a:lnL>
                    <a:lnR w="14400">
                      <a:solidFill>
                        <a:srgbClr val="ffffff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5960" rIns="75960" tIns="18720" bIns="18720" anchor="ctr">
                      <a:noAutofit/>
                    </a:bodyPr>
                    <a:p>
                      <a:endParaRPr b="0" lang="es-CO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ffffff"/>
                      </a:solidFill>
                      <a:prstDash val="solid"/>
                    </a:lnL>
                    <a:lnR w="14400">
                      <a:solidFill>
                        <a:srgbClr val="ffffff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5960" rIns="75960" tIns="18720" bIns="18720" anchor="ctr">
                      <a:noAutofit/>
                    </a:bodyPr>
                    <a:p>
                      <a:endParaRPr b="0" lang="es-CO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ffffff"/>
                      </a:solidFill>
                      <a:prstDash val="solid"/>
                    </a:lnL>
                    <a:lnR w="14400">
                      <a:solidFill>
                        <a:srgbClr val="ffffff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5960" rIns="75960" tIns="18720" bIns="18720" anchor="ctr">
                      <a:noAutofit/>
                    </a:bodyPr>
                    <a:p>
                      <a:endParaRPr b="0" lang="es-CO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ffffff"/>
                      </a:solidFill>
                      <a:prstDash val="solid"/>
                    </a:lnL>
                    <a:lnR w="14400">
                      <a:solidFill>
                        <a:srgbClr val="ffffff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5960" rIns="75960" tIns="18720" bIns="18720" anchor="ctr">
                      <a:noAutofit/>
                    </a:bodyPr>
                    <a:p>
                      <a:endParaRPr b="0" lang="es-CO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ffffff"/>
                      </a:solidFill>
                      <a:prstDash val="solid"/>
                    </a:lnL>
                    <a:lnR w="14400">
                      <a:solidFill>
                        <a:srgbClr val="ffffff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5960" rIns="75960" tIns="18720" bIns="18720" anchor="ctr">
                      <a:noAutofit/>
                    </a:bodyPr>
                    <a:p>
                      <a:endParaRPr b="0" lang="es-CO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ffffff"/>
                      </a:solidFill>
                      <a:prstDash val="solid"/>
                    </a:lnL>
                    <a:lnR w="14400">
                      <a:solidFill>
                        <a:srgbClr val="ffffff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5960" rIns="75960" tIns="18720" bIns="18720" anchor="ctr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s-MX" sz="600" spc="-1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</a:rPr>
                        <a:t>■</a:t>
                      </a:r>
                      <a:endParaRPr b="0" lang="es-CO" sz="6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ffffff"/>
                      </a:solidFill>
                      <a:prstDash val="solid"/>
                    </a:lnL>
                    <a:lnR w="14400">
                      <a:solidFill>
                        <a:srgbClr val="ffffff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5960" rIns="75960" tIns="18720" bIns="18720" anchor="ctr">
                      <a:noAutofit/>
                    </a:bodyPr>
                    <a:p>
                      <a:endParaRPr b="0" lang="es-CO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ffffff"/>
                      </a:solidFill>
                      <a:prstDash val="solid"/>
                    </a:lnL>
                    <a:lnR w="14400">
                      <a:solidFill>
                        <a:srgbClr val="284e3f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74760">
                <a:tc>
                  <a:txBody>
                    <a:bodyPr lIns="75960" rIns="75960" tIns="18720" bIns="18720" anchor="ctr">
                      <a:noAutofit/>
                    </a:bodyPr>
                    <a:p>
                      <a:endParaRPr b="0" lang="es-CO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284e3f"/>
                      </a:solidFill>
                      <a:prstDash val="solid"/>
                    </a:lnL>
                    <a:lnR w="14400">
                      <a:solidFill>
                        <a:srgbClr val="f6f8f9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 lIns="75960" rIns="75960" tIns="18720" bIns="18720" anchor="ctr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s-MX" sz="600" spc="-1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</a:rPr>
                        <a:t>Ejecución de Pruebas (Resultados y Ajustes)</a:t>
                      </a:r>
                      <a:endParaRPr b="0" lang="es-CO" sz="6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f6f8f9"/>
                      </a:solidFill>
                      <a:prstDash val="solid"/>
                    </a:lnL>
                    <a:lnR w="14400">
                      <a:solidFill>
                        <a:srgbClr val="f6f8f9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 lIns="75960" rIns="75960" tIns="18720" bIns="18720" anchor="ctr">
                      <a:noAutofit/>
                    </a:bodyPr>
                    <a:p>
                      <a:endParaRPr b="0" lang="es-CO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f6f8f9"/>
                      </a:solidFill>
                      <a:prstDash val="solid"/>
                    </a:lnL>
                    <a:lnR w="14400">
                      <a:solidFill>
                        <a:srgbClr val="f6f8f9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 lIns="75960" rIns="75960" tIns="18720" bIns="18720" anchor="ctr">
                      <a:noAutofit/>
                    </a:bodyPr>
                    <a:p>
                      <a:endParaRPr b="0" lang="es-CO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f6f8f9"/>
                      </a:solidFill>
                      <a:prstDash val="solid"/>
                    </a:lnL>
                    <a:lnR w="14400">
                      <a:solidFill>
                        <a:srgbClr val="f6f8f9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 lIns="75960" rIns="75960" tIns="18720" bIns="18720" anchor="ctr">
                      <a:noAutofit/>
                    </a:bodyPr>
                    <a:p>
                      <a:endParaRPr b="0" lang="es-CO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f6f8f9"/>
                      </a:solidFill>
                      <a:prstDash val="solid"/>
                    </a:lnL>
                    <a:lnR w="14400">
                      <a:solidFill>
                        <a:srgbClr val="f6f8f9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 lIns="75960" rIns="75960" tIns="18720" bIns="18720" anchor="ctr">
                      <a:noAutofit/>
                    </a:bodyPr>
                    <a:p>
                      <a:endParaRPr b="0" lang="es-CO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f6f8f9"/>
                      </a:solidFill>
                      <a:prstDash val="solid"/>
                    </a:lnL>
                    <a:lnR w="14400">
                      <a:solidFill>
                        <a:srgbClr val="f6f8f9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 lIns="75960" rIns="75960" tIns="18720" bIns="18720" anchor="ctr">
                      <a:noAutofit/>
                    </a:bodyPr>
                    <a:p>
                      <a:endParaRPr b="0" lang="es-CO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f6f8f9"/>
                      </a:solidFill>
                      <a:prstDash val="solid"/>
                    </a:lnL>
                    <a:lnR w="14400">
                      <a:solidFill>
                        <a:srgbClr val="f6f8f9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 lIns="75960" rIns="75960" tIns="18720" bIns="18720" anchor="ctr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s-MX" sz="600" spc="-1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</a:rPr>
                        <a:t>■</a:t>
                      </a:r>
                      <a:endParaRPr b="0" lang="es-CO" sz="6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f6f8f9"/>
                      </a:solidFill>
                      <a:prstDash val="solid"/>
                    </a:lnL>
                    <a:lnR w="14400">
                      <a:solidFill>
                        <a:srgbClr val="f6f8f9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 lIns="75960" rIns="75960" tIns="18720" bIns="18720" anchor="ctr">
                      <a:noAutofit/>
                    </a:bodyPr>
                    <a:p>
                      <a:endParaRPr b="0" lang="es-CO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f6f8f9"/>
                      </a:solidFill>
                      <a:prstDash val="solid"/>
                    </a:lnL>
                    <a:lnR w="14400">
                      <a:solidFill>
                        <a:srgbClr val="284e3f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6f8f9"/>
                    </a:solidFill>
                  </a:tcPr>
                </a:tc>
              </a:tr>
              <a:tr h="374760">
                <a:tc>
                  <a:txBody>
                    <a:bodyPr lIns="75960" rIns="75960" tIns="18720" bIns="18720" anchor="ctr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s-MX" sz="600" spc="-1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</a:rPr>
                        <a:t>IMPLANTACIÓN</a:t>
                      </a:r>
                      <a:endParaRPr b="0" lang="es-CO" sz="6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284e3f"/>
                      </a:solidFill>
                      <a:prstDash val="solid"/>
                    </a:lnL>
                    <a:lnR w="14400">
                      <a:solidFill>
                        <a:srgbClr val="ffffff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5960" rIns="75960" tIns="18720" bIns="18720" anchor="ctr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s-MX" sz="600" spc="-1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</a:rPr>
                        <a:t>Sistema de Información Web – Servidor Externo (Hosting)</a:t>
                      </a:r>
                      <a:endParaRPr b="0" lang="es-CO" sz="6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ffffff"/>
                      </a:solidFill>
                      <a:prstDash val="solid"/>
                    </a:lnL>
                    <a:lnR w="14400">
                      <a:solidFill>
                        <a:srgbClr val="ffffff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5960" rIns="75960" tIns="18720" bIns="18720" anchor="ctr">
                      <a:noAutofit/>
                    </a:bodyPr>
                    <a:p>
                      <a:endParaRPr b="0" lang="es-CO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ffffff"/>
                      </a:solidFill>
                      <a:prstDash val="solid"/>
                    </a:lnL>
                    <a:lnR w="14400">
                      <a:solidFill>
                        <a:srgbClr val="ffffff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5960" rIns="75960" tIns="18720" bIns="18720" anchor="ctr">
                      <a:noAutofit/>
                    </a:bodyPr>
                    <a:p>
                      <a:endParaRPr b="0" lang="es-CO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ffffff"/>
                      </a:solidFill>
                      <a:prstDash val="solid"/>
                    </a:lnL>
                    <a:lnR w="14400">
                      <a:solidFill>
                        <a:srgbClr val="ffffff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5960" rIns="75960" tIns="18720" bIns="18720" anchor="ctr">
                      <a:noAutofit/>
                    </a:bodyPr>
                    <a:p>
                      <a:endParaRPr b="0" lang="es-CO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ffffff"/>
                      </a:solidFill>
                      <a:prstDash val="solid"/>
                    </a:lnL>
                    <a:lnR w="14400">
                      <a:solidFill>
                        <a:srgbClr val="ffffff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5960" rIns="75960" tIns="18720" bIns="18720" anchor="ctr">
                      <a:noAutofit/>
                    </a:bodyPr>
                    <a:p>
                      <a:endParaRPr b="0" lang="es-CO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ffffff"/>
                      </a:solidFill>
                      <a:prstDash val="solid"/>
                    </a:lnL>
                    <a:lnR w="14400">
                      <a:solidFill>
                        <a:srgbClr val="ffffff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5960" rIns="75960" tIns="18720" bIns="18720" anchor="ctr">
                      <a:noAutofit/>
                    </a:bodyPr>
                    <a:p>
                      <a:endParaRPr b="0" lang="es-CO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ffffff"/>
                      </a:solidFill>
                      <a:prstDash val="solid"/>
                    </a:lnL>
                    <a:lnR w="14400">
                      <a:solidFill>
                        <a:srgbClr val="ffffff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5960" rIns="75960" tIns="18720" bIns="18720" anchor="ctr">
                      <a:noAutofit/>
                    </a:bodyPr>
                    <a:p>
                      <a:endParaRPr b="0" lang="es-CO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ffffff"/>
                      </a:solidFill>
                      <a:prstDash val="solid"/>
                    </a:lnL>
                    <a:lnR w="14400">
                      <a:solidFill>
                        <a:srgbClr val="ffffff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5960" rIns="75960" tIns="18720" bIns="18720" anchor="ctr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s-MX" sz="600" spc="-1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</a:rPr>
                        <a:t>■</a:t>
                      </a:r>
                      <a:endParaRPr b="0" lang="es-CO" sz="6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ffffff"/>
                      </a:solidFill>
                      <a:prstDash val="solid"/>
                    </a:lnL>
                    <a:lnR w="14400">
                      <a:solidFill>
                        <a:srgbClr val="284e3f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74760">
                <a:tc>
                  <a:txBody>
                    <a:bodyPr lIns="75960" rIns="75960" tIns="18720" bIns="18720" anchor="ctr">
                      <a:noAutofit/>
                    </a:bodyPr>
                    <a:p>
                      <a:endParaRPr b="0" lang="es-CO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284e3f"/>
                      </a:solidFill>
                      <a:prstDash val="solid"/>
                    </a:lnL>
                    <a:lnR w="14400">
                      <a:solidFill>
                        <a:srgbClr val="f6f8f9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 lIns="75960" rIns="75960" tIns="18720" bIns="18720" anchor="ctr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s-MX" sz="600" spc="-1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</a:rPr>
                        <a:t>Configuración del Servidor de Aplicaciones</a:t>
                      </a:r>
                      <a:endParaRPr b="0" lang="es-CO" sz="6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f6f8f9"/>
                      </a:solidFill>
                      <a:prstDash val="solid"/>
                    </a:lnL>
                    <a:lnR w="14400">
                      <a:solidFill>
                        <a:srgbClr val="f6f8f9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 lIns="75960" rIns="75960" tIns="18720" bIns="18720" anchor="ctr">
                      <a:noAutofit/>
                    </a:bodyPr>
                    <a:p>
                      <a:endParaRPr b="0" lang="es-CO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f6f8f9"/>
                      </a:solidFill>
                      <a:prstDash val="solid"/>
                    </a:lnL>
                    <a:lnR w="14400">
                      <a:solidFill>
                        <a:srgbClr val="f6f8f9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 lIns="75960" rIns="75960" tIns="18720" bIns="18720" anchor="ctr">
                      <a:noAutofit/>
                    </a:bodyPr>
                    <a:p>
                      <a:endParaRPr b="0" lang="es-CO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f6f8f9"/>
                      </a:solidFill>
                      <a:prstDash val="solid"/>
                    </a:lnL>
                    <a:lnR w="14400">
                      <a:solidFill>
                        <a:srgbClr val="f6f8f9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 lIns="75960" rIns="75960" tIns="18720" bIns="18720" anchor="ctr">
                      <a:noAutofit/>
                    </a:bodyPr>
                    <a:p>
                      <a:endParaRPr b="0" lang="es-CO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f6f8f9"/>
                      </a:solidFill>
                      <a:prstDash val="solid"/>
                    </a:lnL>
                    <a:lnR w="14400">
                      <a:solidFill>
                        <a:srgbClr val="f6f8f9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 lIns="75960" rIns="75960" tIns="18720" bIns="18720" anchor="ctr">
                      <a:noAutofit/>
                    </a:bodyPr>
                    <a:p>
                      <a:endParaRPr b="0" lang="es-CO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f6f8f9"/>
                      </a:solidFill>
                      <a:prstDash val="solid"/>
                    </a:lnL>
                    <a:lnR w="14400">
                      <a:solidFill>
                        <a:srgbClr val="f6f8f9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 lIns="75960" rIns="75960" tIns="18720" bIns="18720" anchor="ctr">
                      <a:noAutofit/>
                    </a:bodyPr>
                    <a:p>
                      <a:endParaRPr b="0" lang="es-CO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f6f8f9"/>
                      </a:solidFill>
                      <a:prstDash val="solid"/>
                    </a:lnL>
                    <a:lnR w="14400">
                      <a:solidFill>
                        <a:srgbClr val="f6f8f9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 lIns="75960" rIns="75960" tIns="18720" bIns="18720" anchor="ctr">
                      <a:noAutofit/>
                    </a:bodyPr>
                    <a:p>
                      <a:endParaRPr b="0" lang="es-CO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f6f8f9"/>
                      </a:solidFill>
                      <a:prstDash val="solid"/>
                    </a:lnL>
                    <a:lnR w="14400">
                      <a:solidFill>
                        <a:srgbClr val="f6f8f9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 lIns="75960" rIns="75960" tIns="18720" bIns="18720" anchor="ctr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s-MX" sz="600" spc="-1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</a:rPr>
                        <a:t>■</a:t>
                      </a:r>
                      <a:endParaRPr b="0" lang="es-CO" sz="6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f6f8f9"/>
                      </a:solidFill>
                      <a:prstDash val="solid"/>
                    </a:lnL>
                    <a:lnR w="14400">
                      <a:solidFill>
                        <a:srgbClr val="284e3f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6f8f9"/>
                    </a:solidFill>
                  </a:tcPr>
                </a:tc>
              </a:tr>
              <a:tr h="374760">
                <a:tc>
                  <a:txBody>
                    <a:bodyPr lIns="75960" rIns="75960" tIns="18720" bIns="18720" anchor="ctr">
                      <a:noAutofit/>
                    </a:bodyPr>
                    <a:p>
                      <a:endParaRPr b="0" lang="es-CO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284e3f"/>
                      </a:solidFill>
                      <a:prstDash val="solid"/>
                    </a:lnL>
                    <a:lnR w="14400">
                      <a:solidFill>
                        <a:srgbClr val="ffffff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5960" rIns="75960" tIns="18720" bIns="18720" anchor="ctr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s-MX" sz="600" spc="-1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</a:rPr>
                        <a:t>Manual de Instalación y Configuración</a:t>
                      </a:r>
                      <a:endParaRPr b="0" lang="es-CO" sz="6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ffffff"/>
                      </a:solidFill>
                      <a:prstDash val="solid"/>
                    </a:lnL>
                    <a:lnR w="14400">
                      <a:solidFill>
                        <a:srgbClr val="ffffff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5960" rIns="75960" tIns="18720" bIns="18720" anchor="ctr">
                      <a:noAutofit/>
                    </a:bodyPr>
                    <a:p>
                      <a:endParaRPr b="0" lang="es-CO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ffffff"/>
                      </a:solidFill>
                      <a:prstDash val="solid"/>
                    </a:lnL>
                    <a:lnR w="14400">
                      <a:solidFill>
                        <a:srgbClr val="ffffff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5960" rIns="75960" tIns="18720" bIns="18720" anchor="ctr">
                      <a:noAutofit/>
                    </a:bodyPr>
                    <a:p>
                      <a:endParaRPr b="0" lang="es-CO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ffffff"/>
                      </a:solidFill>
                      <a:prstDash val="solid"/>
                    </a:lnL>
                    <a:lnR w="14400">
                      <a:solidFill>
                        <a:srgbClr val="ffffff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5960" rIns="75960" tIns="18720" bIns="18720" anchor="ctr">
                      <a:noAutofit/>
                    </a:bodyPr>
                    <a:p>
                      <a:endParaRPr b="0" lang="es-CO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ffffff"/>
                      </a:solidFill>
                      <a:prstDash val="solid"/>
                    </a:lnL>
                    <a:lnR w="14400">
                      <a:solidFill>
                        <a:srgbClr val="ffffff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5960" rIns="75960" tIns="18720" bIns="18720" anchor="ctr">
                      <a:noAutofit/>
                    </a:bodyPr>
                    <a:p>
                      <a:endParaRPr b="0" lang="es-CO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ffffff"/>
                      </a:solidFill>
                      <a:prstDash val="solid"/>
                    </a:lnL>
                    <a:lnR w="14400">
                      <a:solidFill>
                        <a:srgbClr val="ffffff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5960" rIns="75960" tIns="18720" bIns="18720" anchor="ctr">
                      <a:noAutofit/>
                    </a:bodyPr>
                    <a:p>
                      <a:endParaRPr b="0" lang="es-CO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ffffff"/>
                      </a:solidFill>
                      <a:prstDash val="solid"/>
                    </a:lnL>
                    <a:lnR w="14400">
                      <a:solidFill>
                        <a:srgbClr val="ffffff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5960" rIns="75960" tIns="18720" bIns="18720" anchor="ctr">
                      <a:noAutofit/>
                    </a:bodyPr>
                    <a:p>
                      <a:endParaRPr b="0" lang="es-CO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ffffff"/>
                      </a:solidFill>
                      <a:prstDash val="solid"/>
                    </a:lnL>
                    <a:lnR w="14400">
                      <a:solidFill>
                        <a:srgbClr val="ffffff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5960" rIns="75960" tIns="18720" bIns="18720" anchor="ctr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s-MX" sz="600" spc="-1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</a:rPr>
                        <a:t>■</a:t>
                      </a:r>
                      <a:endParaRPr b="0" lang="es-CO" sz="6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ffffff"/>
                      </a:solidFill>
                      <a:prstDash val="solid"/>
                    </a:lnL>
                    <a:lnR w="14400">
                      <a:solidFill>
                        <a:srgbClr val="284e3f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f6f8f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74760">
                <a:tc>
                  <a:txBody>
                    <a:bodyPr lIns="75960" rIns="75960" tIns="18720" bIns="18720" anchor="ctr">
                      <a:noAutofit/>
                    </a:bodyPr>
                    <a:p>
                      <a:endParaRPr b="0" lang="es-CO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284e3f"/>
                      </a:solidFill>
                      <a:prstDash val="solid"/>
                    </a:lnL>
                    <a:lnR w="14400">
                      <a:solidFill>
                        <a:srgbClr val="f6f8f9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284e3f"/>
                      </a:solidFill>
                      <a:prstDash val="soli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 lIns="75960" rIns="75960" tIns="18720" bIns="18720" anchor="ctr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s-MX" sz="600" spc="-1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</a:rPr>
                        <a:t>Manual de Usuario</a:t>
                      </a:r>
                      <a:endParaRPr b="0" lang="es-CO" sz="6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f6f8f9"/>
                      </a:solidFill>
                      <a:prstDash val="solid"/>
                    </a:lnL>
                    <a:lnR w="14400">
                      <a:solidFill>
                        <a:srgbClr val="f6f8f9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284e3f"/>
                      </a:solidFill>
                      <a:prstDash val="soli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 lIns="75960" rIns="75960" tIns="18720" bIns="18720" anchor="ctr">
                      <a:noAutofit/>
                    </a:bodyPr>
                    <a:p>
                      <a:endParaRPr b="0" lang="es-CO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f6f8f9"/>
                      </a:solidFill>
                      <a:prstDash val="solid"/>
                    </a:lnL>
                    <a:lnR w="14400">
                      <a:solidFill>
                        <a:srgbClr val="f6f8f9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284e3f"/>
                      </a:solidFill>
                      <a:prstDash val="soli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 lIns="75960" rIns="75960" tIns="18720" bIns="18720" anchor="ctr">
                      <a:noAutofit/>
                    </a:bodyPr>
                    <a:p>
                      <a:endParaRPr b="0" lang="es-CO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f6f8f9"/>
                      </a:solidFill>
                      <a:prstDash val="solid"/>
                    </a:lnL>
                    <a:lnR w="14400">
                      <a:solidFill>
                        <a:srgbClr val="f6f8f9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284e3f"/>
                      </a:solidFill>
                      <a:prstDash val="soli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 lIns="75960" rIns="75960" tIns="18720" bIns="18720" anchor="ctr">
                      <a:noAutofit/>
                    </a:bodyPr>
                    <a:p>
                      <a:endParaRPr b="0" lang="es-CO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f6f8f9"/>
                      </a:solidFill>
                      <a:prstDash val="solid"/>
                    </a:lnL>
                    <a:lnR w="14400">
                      <a:solidFill>
                        <a:srgbClr val="f6f8f9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284e3f"/>
                      </a:solidFill>
                      <a:prstDash val="soli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 lIns="75960" rIns="75960" tIns="18720" bIns="18720" anchor="ctr">
                      <a:noAutofit/>
                    </a:bodyPr>
                    <a:p>
                      <a:endParaRPr b="0" lang="es-CO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f6f8f9"/>
                      </a:solidFill>
                      <a:prstDash val="solid"/>
                    </a:lnL>
                    <a:lnR w="14400">
                      <a:solidFill>
                        <a:srgbClr val="f6f8f9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284e3f"/>
                      </a:solidFill>
                      <a:prstDash val="soli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 lIns="75960" rIns="75960" tIns="18720" bIns="18720" anchor="ctr">
                      <a:noAutofit/>
                    </a:bodyPr>
                    <a:p>
                      <a:endParaRPr b="0" lang="es-CO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f6f8f9"/>
                      </a:solidFill>
                      <a:prstDash val="solid"/>
                    </a:lnL>
                    <a:lnR w="14400">
                      <a:solidFill>
                        <a:srgbClr val="f6f8f9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284e3f"/>
                      </a:solidFill>
                      <a:prstDash val="soli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 lIns="75960" rIns="75960" tIns="18720" bIns="18720" anchor="ctr">
                      <a:noAutofit/>
                    </a:bodyPr>
                    <a:p>
                      <a:endParaRPr b="0" lang="es-CO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f6f8f9"/>
                      </a:solidFill>
                      <a:prstDash val="solid"/>
                    </a:lnL>
                    <a:lnR w="14400">
                      <a:solidFill>
                        <a:srgbClr val="f6f8f9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284e3f"/>
                      </a:solidFill>
                      <a:prstDash val="soli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 lIns="75960" rIns="75960" tIns="18720" bIns="18720" anchor="ctr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s-MX" sz="600" spc="-1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</a:rPr>
                        <a:t>■</a:t>
                      </a:r>
                      <a:endParaRPr b="0" lang="es-CO" sz="6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75960" marR="75960">
                    <a:lnL w="14400">
                      <a:solidFill>
                        <a:srgbClr val="f6f8f9"/>
                      </a:solidFill>
                      <a:prstDash val="solid"/>
                    </a:lnL>
                    <a:lnR w="14400">
                      <a:solidFill>
                        <a:srgbClr val="284e3f"/>
                      </a:solidFill>
                      <a:prstDash val="solid"/>
                    </a:lnR>
                    <a:lnT w="14400">
                      <a:solidFill>
                        <a:srgbClr val="f6f8f9"/>
                      </a:solidFill>
                      <a:prstDash val="solid"/>
                    </a:lnT>
                    <a:lnB w="14400">
                      <a:solidFill>
                        <a:srgbClr val="284e3f"/>
                      </a:solidFill>
                      <a:prstDash val="solid"/>
                    </a:lnB>
                    <a:solidFill>
                      <a:srgbClr val="f6f8f9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70;p12" descr="Imagen que contiene Interfaz de usuario gráfica&#10;&#10;Descripción generada automáticamente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Zae Redfield</dc:creator>
  <dc:description/>
  <dc:language>es-CO</dc:language>
  <cp:lastModifiedBy/>
  <dcterms:modified xsi:type="dcterms:W3CDTF">2026-08-16T23:52:21Z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